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315" r:id="rId6"/>
    <p:sldId id="318" r:id="rId7"/>
    <p:sldId id="319" r:id="rId8"/>
    <p:sldId id="328" r:id="rId9"/>
    <p:sldId id="321" r:id="rId10"/>
    <p:sldId id="333" r:id="rId11"/>
    <p:sldId id="337" r:id="rId12"/>
    <p:sldId id="334" r:id="rId13"/>
    <p:sldId id="335" r:id="rId14"/>
    <p:sldId id="336" r:id="rId15"/>
    <p:sldId id="338" r:id="rId16"/>
    <p:sldId id="323" r:id="rId17"/>
    <p:sldId id="326" r:id="rId18"/>
    <p:sldId id="320" r:id="rId19"/>
    <p:sldId id="331" r:id="rId20"/>
    <p:sldId id="332" r:id="rId21"/>
    <p:sldId id="324" r:id="rId22"/>
    <p:sldId id="330" r:id="rId23"/>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E97132"/>
    <a:srgbClr val="E9E7C1"/>
    <a:srgbClr val="DAD794"/>
    <a:srgbClr val="CA500F"/>
    <a:srgbClr val="FF0000"/>
    <a:srgbClr val="3A97DD"/>
    <a:srgbClr val="4199DD"/>
    <a:srgbClr val="12A20C"/>
    <a:srgbClr val="14A1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9CDFE1-B99C-4FF5-9E42-E7D2468CBDA1}" v="2233" dt="2026-07-24T09:42:54.86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8" autoAdjust="0"/>
    <p:restoredTop sz="75499" autoAdjust="0"/>
  </p:normalViewPr>
  <p:slideViewPr>
    <p:cSldViewPr snapToGrid="0">
      <p:cViewPr varScale="1">
        <p:scale>
          <a:sx n="81" d="100"/>
          <a:sy n="81" d="100"/>
        </p:scale>
        <p:origin x="13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70DF5702-6183-4F1D-A528-1474E0632EF3}" type="datetimeFigureOut">
              <a:rPr kumimoji="1" lang="ja-JP" altLang="en-US" smtClean="0"/>
              <a:t>2026/7/27</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58020196-A18A-49C8-9F41-BD23247A7CD0}" type="slidenum">
              <a:rPr kumimoji="1" lang="ja-JP" altLang="en-US" smtClean="0"/>
              <a:t>‹#›</a:t>
            </a:fld>
            <a:endParaRPr kumimoji="1" lang="ja-JP" altLang="en-US"/>
          </a:p>
        </p:txBody>
      </p:sp>
    </p:spTree>
    <p:extLst>
      <p:ext uri="{BB962C8B-B14F-4D97-AF65-F5344CB8AC3E}">
        <p14:creationId xmlns:p14="http://schemas.microsoft.com/office/powerpoint/2010/main" val="42916916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58020196-A18A-49C8-9F41-BD23247A7CD0}" type="slidenum">
              <a:rPr kumimoji="1" lang="ja-JP" altLang="en-US" smtClean="0"/>
              <a:t>1</a:t>
            </a:fld>
            <a:endParaRPr kumimoji="1" lang="ja-JP" altLang="en-US"/>
          </a:p>
        </p:txBody>
      </p:sp>
    </p:spTree>
    <p:extLst>
      <p:ext uri="{BB962C8B-B14F-4D97-AF65-F5344CB8AC3E}">
        <p14:creationId xmlns:p14="http://schemas.microsoft.com/office/powerpoint/2010/main" val="999782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F8FB-EEAF-2092-B712-39EE01977D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5410E1-96CC-1F7B-BEEB-4D6F454829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2E442C-2C4E-5A23-FA15-453AAB7CB9F8}"/>
              </a:ext>
            </a:extLst>
          </p:cNvPr>
          <p:cNvSpPr>
            <a:spLocks noGrp="1"/>
          </p:cNvSpPr>
          <p:nvPr>
            <p:ph type="body" idx="1"/>
          </p:nvPr>
        </p:nvSpPr>
        <p:spPr/>
        <p:txBody>
          <a:bodyPr/>
          <a:lstStyle/>
          <a:p>
            <a:pPr marL="0" indent="0">
              <a:buNone/>
            </a:pPr>
            <a:r>
              <a:rPr lang="ja-JP" altLang="en-US" dirty="0">
                <a:ea typeface="ＭＳ Ｐゴシック"/>
              </a:rPr>
              <a:t>会社ビジョン</a:t>
            </a:r>
          </a:p>
          <a:p>
            <a:pPr marL="0" indent="0">
              <a:buNone/>
            </a:pPr>
            <a:r>
              <a:rPr lang="en-US" altLang="ja-JP" dirty="0">
                <a:ea typeface="ＭＳ Ｐゴシック"/>
              </a:rPr>
              <a:t>『</a:t>
            </a:r>
            <a:r>
              <a:rPr lang="ja-JP" altLang="en-US" dirty="0">
                <a:ea typeface="ＭＳ Ｐゴシック"/>
              </a:rPr>
              <a:t>勇翔</a:t>
            </a:r>
            <a:r>
              <a:rPr lang="en-US" altLang="ja-JP" dirty="0">
                <a:ea typeface="ＭＳ Ｐゴシック"/>
              </a:rPr>
              <a:t>2034』</a:t>
            </a:r>
            <a:r>
              <a:rPr lang="ja-JP" altLang="en-US" dirty="0">
                <a:ea typeface="ＭＳ Ｐゴシック"/>
              </a:rPr>
              <a:t>にてお客さまへの安心と感動を届ける</a:t>
            </a:r>
          </a:p>
          <a:p>
            <a:pPr marL="0" indent="0">
              <a:buNone/>
            </a:pPr>
            <a:r>
              <a:rPr lang="ja-JP" altLang="en-US" dirty="0">
                <a:ea typeface="ＭＳ Ｐゴシック"/>
              </a:rPr>
              <a:t>組織再編にてお客さまに近い位置で課題解決する</a:t>
            </a:r>
          </a:p>
          <a:p>
            <a:pPr marL="0" indent="0">
              <a:buNone/>
            </a:pPr>
            <a:r>
              <a:rPr lang="ja-JP" altLang="en-US" dirty="0">
                <a:ea typeface="ＭＳ Ｐゴシック"/>
              </a:rPr>
              <a:t>↓</a:t>
            </a:r>
          </a:p>
          <a:p>
            <a:pPr marL="0" indent="0">
              <a:buNone/>
            </a:pPr>
            <a:r>
              <a:rPr lang="ja-JP" altLang="en-US" dirty="0">
                <a:ea typeface="ＭＳ Ｐゴシック"/>
              </a:rPr>
              <a:t>一方、</a:t>
            </a:r>
          </a:p>
          <a:p>
            <a:pPr marL="0" indent="0">
              <a:buNone/>
            </a:pPr>
            <a:r>
              <a:rPr lang="ja-JP" altLang="en-US" dirty="0">
                <a:ea typeface="ＭＳ Ｐゴシック"/>
              </a:rPr>
              <a:t>指令の運用整理を車セが断る事象発生（</a:t>
            </a:r>
            <a:r>
              <a:rPr lang="en-US" altLang="ja-JP" dirty="0">
                <a:ea typeface="ＭＳ Ｐゴシック"/>
              </a:rPr>
              <a:t>2024</a:t>
            </a:r>
            <a:r>
              <a:rPr lang="ja-JP" altLang="en-US" dirty="0">
                <a:ea typeface="ＭＳ Ｐゴシック"/>
              </a:rPr>
              <a:t>年</a:t>
            </a:r>
            <a:r>
              <a:rPr lang="en-US" altLang="ja-JP" dirty="0">
                <a:ea typeface="ＭＳ Ｐゴシック"/>
              </a:rPr>
              <a:t>11</a:t>
            </a:r>
            <a:r>
              <a:rPr lang="ja-JP" altLang="en-US" dirty="0">
                <a:ea typeface="ＭＳ Ｐゴシック"/>
              </a:rPr>
              <a:t>月７日、</a:t>
            </a:r>
            <a:r>
              <a:rPr lang="en-US" altLang="ja-JP" dirty="0">
                <a:ea typeface="ＭＳ Ｐゴシック"/>
              </a:rPr>
              <a:t>15</a:t>
            </a:r>
            <a:r>
              <a:rPr lang="ja-JP" altLang="en-US" dirty="0">
                <a:ea typeface="ＭＳ Ｐゴシック"/>
              </a:rPr>
              <a:t>日）</a:t>
            </a:r>
          </a:p>
          <a:p>
            <a:pPr marL="0" indent="0">
              <a:buNone/>
            </a:pPr>
            <a:r>
              <a:rPr lang="ja-JP" altLang="en-US" dirty="0">
                <a:ea typeface="ＭＳ Ｐゴシック"/>
              </a:rPr>
              <a:t>お客さまにとってどれだけの影響があったか（遅延や運休、乗り換え接続不良など）</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a typeface="ＭＳ Ｐゴシック"/>
              </a:rPr>
              <a:t>＝お客さまに対してサービスとは言えないのではないか</a:t>
            </a:r>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FD0E12BE-262C-20B2-13A4-A9EDE2E553F9}"/>
              </a:ext>
            </a:extLst>
          </p:cNvPr>
          <p:cNvSpPr>
            <a:spLocks noGrp="1"/>
          </p:cNvSpPr>
          <p:nvPr>
            <p:ph type="sldNum" sz="quarter" idx="5"/>
          </p:nvPr>
        </p:nvSpPr>
        <p:spPr/>
        <p:txBody>
          <a:bodyPr/>
          <a:lstStyle/>
          <a:p>
            <a:fld id="{58020196-A18A-49C8-9F41-BD23247A7CD0}" type="slidenum">
              <a:rPr kumimoji="1" lang="ja-JP" altLang="en-US" smtClean="0"/>
              <a:t>2</a:t>
            </a:fld>
            <a:endParaRPr kumimoji="1" lang="ja-JP" altLang="en-US"/>
          </a:p>
        </p:txBody>
      </p:sp>
    </p:spTree>
    <p:extLst>
      <p:ext uri="{BB962C8B-B14F-4D97-AF65-F5344CB8AC3E}">
        <p14:creationId xmlns:p14="http://schemas.microsoft.com/office/powerpoint/2010/main" val="112970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73DE8-EF00-4392-D544-4F3D8F086E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69D7A4-FD91-9319-F470-9B6E49C0C42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1893195-803D-5A47-F149-DEE03B68C6A8}"/>
              </a:ext>
            </a:extLst>
          </p:cNvPr>
          <p:cNvSpPr>
            <a:spLocks noGrp="1"/>
          </p:cNvSpPr>
          <p:nvPr>
            <p:ph type="body" idx="1"/>
          </p:nvPr>
        </p:nvSpPr>
        <p:spPr/>
        <p:txBody>
          <a:bodyPr/>
          <a:lstStyle/>
          <a:p>
            <a:pPr marL="0" indent="0">
              <a:buNone/>
            </a:pPr>
            <a:r>
              <a:rPr lang="ja-JP" altLang="en-US" dirty="0">
                <a:ea typeface="ＭＳ Ｐゴシック"/>
              </a:rPr>
              <a:t>一方、</a:t>
            </a:r>
          </a:p>
          <a:p>
            <a:pPr marL="0" indent="0">
              <a:buNone/>
            </a:pPr>
            <a:r>
              <a:rPr lang="ja-JP" altLang="en-US" dirty="0">
                <a:ea typeface="ＭＳ Ｐゴシック"/>
              </a:rPr>
              <a:t>指令の運用整理を車セが断る事象発生（</a:t>
            </a:r>
            <a:r>
              <a:rPr lang="en-US" altLang="ja-JP" dirty="0">
                <a:ea typeface="ＭＳ Ｐゴシック"/>
              </a:rPr>
              <a:t>2024</a:t>
            </a:r>
            <a:r>
              <a:rPr lang="ja-JP" altLang="en-US" dirty="0">
                <a:ea typeface="ＭＳ Ｐゴシック"/>
              </a:rPr>
              <a:t>年</a:t>
            </a:r>
            <a:r>
              <a:rPr lang="en-US" altLang="ja-JP" dirty="0">
                <a:ea typeface="ＭＳ Ｐゴシック"/>
              </a:rPr>
              <a:t>11</a:t>
            </a:r>
            <a:r>
              <a:rPr lang="ja-JP" altLang="en-US" dirty="0">
                <a:ea typeface="ＭＳ Ｐゴシック"/>
              </a:rPr>
              <a:t>月７日、</a:t>
            </a:r>
            <a:r>
              <a:rPr lang="en-US" altLang="ja-JP" dirty="0">
                <a:ea typeface="ＭＳ Ｐゴシック"/>
              </a:rPr>
              <a:t>15</a:t>
            </a:r>
            <a:r>
              <a:rPr lang="ja-JP" altLang="en-US" dirty="0">
                <a:ea typeface="ＭＳ Ｐゴシック"/>
              </a:rPr>
              <a:t>日）</a:t>
            </a:r>
          </a:p>
          <a:p>
            <a:pPr marL="0" indent="0">
              <a:buNone/>
            </a:pPr>
            <a:r>
              <a:rPr lang="ja-JP" altLang="en-US" dirty="0">
                <a:ea typeface="ＭＳ Ｐゴシック"/>
              </a:rPr>
              <a:t>お客さまにとってどれだけの影響があったか（遅延や運休、乗り換え接続不良など）</a:t>
            </a:r>
            <a:endParaRPr lang="en-US" altLang="ja-JP" dirty="0">
              <a:ea typeface="ＭＳ Ｐゴシック"/>
            </a:endParaRPr>
          </a:p>
          <a:p>
            <a:pPr marL="0" indent="0">
              <a:buNone/>
            </a:pPr>
            <a:r>
              <a:rPr lang="en-US" altLang="ja-JP" dirty="0">
                <a:ea typeface="ＭＳ Ｐゴシック"/>
              </a:rPr>
              <a:t>〈</a:t>
            </a:r>
            <a:r>
              <a:rPr lang="ja-JP" altLang="en-US" dirty="0">
                <a:ea typeface="ＭＳ Ｐゴシック"/>
              </a:rPr>
              <a:t>２回発生したうち１つを紹介</a:t>
            </a:r>
            <a:r>
              <a:rPr lang="en-US" altLang="ja-JP" dirty="0">
                <a:ea typeface="ＭＳ Ｐゴシック"/>
              </a:rPr>
              <a:t>〉</a:t>
            </a:r>
            <a:endParaRPr lang="ja-JP" altLang="en-US" dirty="0">
              <a:ea typeface="ＭＳ Ｐゴシック"/>
            </a:endParaRPr>
          </a:p>
          <a:p>
            <a:endParaRPr kumimoji="1" lang="en-US" altLang="ja-JP" dirty="0"/>
          </a:p>
        </p:txBody>
      </p:sp>
      <p:sp>
        <p:nvSpPr>
          <p:cNvPr id="4" name="スライド番号プレースホルダー 3">
            <a:extLst>
              <a:ext uri="{FF2B5EF4-FFF2-40B4-BE49-F238E27FC236}">
                <a16:creationId xmlns:a16="http://schemas.microsoft.com/office/drawing/2014/main" id="{08E2C17E-BF9B-6746-5AD2-7F3E55677769}"/>
              </a:ext>
            </a:extLst>
          </p:cNvPr>
          <p:cNvSpPr>
            <a:spLocks noGrp="1"/>
          </p:cNvSpPr>
          <p:nvPr>
            <p:ph type="sldNum" sz="quarter" idx="5"/>
          </p:nvPr>
        </p:nvSpPr>
        <p:spPr/>
        <p:txBody>
          <a:bodyPr/>
          <a:lstStyle/>
          <a:p>
            <a:fld id="{58020196-A18A-49C8-9F41-BD23247A7CD0}" type="slidenum">
              <a:rPr kumimoji="1" lang="ja-JP" altLang="en-US" smtClean="0"/>
              <a:t>3</a:t>
            </a:fld>
            <a:endParaRPr kumimoji="1" lang="ja-JP" altLang="en-US"/>
          </a:p>
        </p:txBody>
      </p:sp>
    </p:spTree>
    <p:extLst>
      <p:ext uri="{BB962C8B-B14F-4D97-AF65-F5344CB8AC3E}">
        <p14:creationId xmlns:p14="http://schemas.microsoft.com/office/powerpoint/2010/main" val="2494208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061D-7051-2247-F2AF-E6CBD87980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2A853A-5895-15F3-A33F-5D6E6E8D86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CC255A-FFE1-4C8E-E38F-A28E4AFE83EF}"/>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5431CEAD-6481-C121-AFAF-943EBF1645FB}"/>
              </a:ext>
            </a:extLst>
          </p:cNvPr>
          <p:cNvSpPr>
            <a:spLocks noGrp="1"/>
          </p:cNvSpPr>
          <p:nvPr>
            <p:ph type="sldNum" sz="quarter" idx="5"/>
          </p:nvPr>
        </p:nvSpPr>
        <p:spPr/>
        <p:txBody>
          <a:bodyPr/>
          <a:lstStyle/>
          <a:p>
            <a:fld id="{58020196-A18A-49C8-9F41-BD23247A7CD0}" type="slidenum">
              <a:rPr kumimoji="1" lang="ja-JP" altLang="en-US" smtClean="0"/>
              <a:t>4</a:t>
            </a:fld>
            <a:endParaRPr kumimoji="1" lang="ja-JP" altLang="en-US"/>
          </a:p>
        </p:txBody>
      </p:sp>
    </p:spTree>
    <p:extLst>
      <p:ext uri="{BB962C8B-B14F-4D97-AF65-F5344CB8AC3E}">
        <p14:creationId xmlns:p14="http://schemas.microsoft.com/office/powerpoint/2010/main" val="1984726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DAFCD-D4B5-5642-DD52-9DBCE32A40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4085F7-4289-63BC-7D8C-9418FC0BC49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E8A18E-E80B-BE6A-A49F-C20413015AA0}"/>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EF9E1D32-97B1-107E-8494-AABDB5CA55CA}"/>
              </a:ext>
            </a:extLst>
          </p:cNvPr>
          <p:cNvSpPr>
            <a:spLocks noGrp="1"/>
          </p:cNvSpPr>
          <p:nvPr>
            <p:ph type="sldNum" sz="quarter" idx="5"/>
          </p:nvPr>
        </p:nvSpPr>
        <p:spPr/>
        <p:txBody>
          <a:bodyPr/>
          <a:lstStyle/>
          <a:p>
            <a:fld id="{58020196-A18A-49C8-9F41-BD23247A7CD0}" type="slidenum">
              <a:rPr kumimoji="1" lang="ja-JP" altLang="en-US" smtClean="0"/>
              <a:t>5</a:t>
            </a:fld>
            <a:endParaRPr kumimoji="1" lang="ja-JP" altLang="en-US"/>
          </a:p>
        </p:txBody>
      </p:sp>
    </p:spTree>
    <p:extLst>
      <p:ext uri="{BB962C8B-B14F-4D97-AF65-F5344CB8AC3E}">
        <p14:creationId xmlns:p14="http://schemas.microsoft.com/office/powerpoint/2010/main" val="1008614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93543-14C3-F09F-FA33-4EA664FC1A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A4D4BD-EB6E-8DD3-52C4-7173288CC0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ACCE4C2-2166-BF5F-71C1-CDC37EE27EBA}"/>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22BC4580-F095-85DB-799B-718EE77F7159}"/>
              </a:ext>
            </a:extLst>
          </p:cNvPr>
          <p:cNvSpPr>
            <a:spLocks noGrp="1"/>
          </p:cNvSpPr>
          <p:nvPr>
            <p:ph type="sldNum" sz="quarter" idx="5"/>
          </p:nvPr>
        </p:nvSpPr>
        <p:spPr/>
        <p:txBody>
          <a:bodyPr/>
          <a:lstStyle/>
          <a:p>
            <a:fld id="{58020196-A18A-49C8-9F41-BD23247A7CD0}" type="slidenum">
              <a:rPr kumimoji="1" lang="ja-JP" altLang="en-US" smtClean="0"/>
              <a:t>6</a:t>
            </a:fld>
            <a:endParaRPr kumimoji="1" lang="ja-JP" altLang="en-US"/>
          </a:p>
        </p:txBody>
      </p:sp>
    </p:spTree>
    <p:extLst>
      <p:ext uri="{BB962C8B-B14F-4D97-AF65-F5344CB8AC3E}">
        <p14:creationId xmlns:p14="http://schemas.microsoft.com/office/powerpoint/2010/main" val="2040234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6280C-1343-34F6-9120-B86F81ABCB2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A6F169-52DC-D50D-ADD0-BA98DEC6A8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53C9837-17BE-7B0F-8F3D-5E338283EECA}"/>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F30749A-4282-3F47-5496-38CDCE888635}"/>
              </a:ext>
            </a:extLst>
          </p:cNvPr>
          <p:cNvSpPr>
            <a:spLocks noGrp="1"/>
          </p:cNvSpPr>
          <p:nvPr>
            <p:ph type="sldNum" sz="quarter" idx="5"/>
          </p:nvPr>
        </p:nvSpPr>
        <p:spPr/>
        <p:txBody>
          <a:bodyPr/>
          <a:lstStyle/>
          <a:p>
            <a:fld id="{58020196-A18A-49C8-9F41-BD23247A7CD0}" type="slidenum">
              <a:rPr kumimoji="1" lang="ja-JP" altLang="en-US" smtClean="0"/>
              <a:t>7</a:t>
            </a:fld>
            <a:endParaRPr kumimoji="1" lang="ja-JP" altLang="en-US"/>
          </a:p>
        </p:txBody>
      </p:sp>
    </p:spTree>
    <p:extLst>
      <p:ext uri="{BB962C8B-B14F-4D97-AF65-F5344CB8AC3E}">
        <p14:creationId xmlns:p14="http://schemas.microsoft.com/office/powerpoint/2010/main" val="902440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C075-9B1B-AF01-2446-FB454412F5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0420FC-7B5C-8C36-D481-DF4FF41A64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665344B-4B7D-8EF7-DA03-56843FE464C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D142D9C3-7240-ACA0-266F-C5BEFFD7F427}"/>
              </a:ext>
            </a:extLst>
          </p:cNvPr>
          <p:cNvSpPr>
            <a:spLocks noGrp="1"/>
          </p:cNvSpPr>
          <p:nvPr>
            <p:ph type="sldNum" sz="quarter" idx="5"/>
          </p:nvPr>
        </p:nvSpPr>
        <p:spPr/>
        <p:txBody>
          <a:bodyPr/>
          <a:lstStyle/>
          <a:p>
            <a:fld id="{58020196-A18A-49C8-9F41-BD23247A7CD0}" type="slidenum">
              <a:rPr kumimoji="1" lang="ja-JP" altLang="en-US" smtClean="0"/>
              <a:t>8</a:t>
            </a:fld>
            <a:endParaRPr kumimoji="1" lang="ja-JP" altLang="en-US"/>
          </a:p>
        </p:txBody>
      </p:sp>
    </p:spTree>
    <p:extLst>
      <p:ext uri="{BB962C8B-B14F-4D97-AF65-F5344CB8AC3E}">
        <p14:creationId xmlns:p14="http://schemas.microsoft.com/office/powerpoint/2010/main" val="4122299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960CC-E39E-48BA-7A83-CEEE858822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F55862-33AF-93EC-61BE-F904759A1C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A3391F-E5E9-6F59-C995-7B8088778D47}"/>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E4C92372-70B7-B8D3-7C0F-53E3973F96D7}"/>
              </a:ext>
            </a:extLst>
          </p:cNvPr>
          <p:cNvSpPr>
            <a:spLocks noGrp="1"/>
          </p:cNvSpPr>
          <p:nvPr>
            <p:ph type="sldNum" sz="quarter" idx="5"/>
          </p:nvPr>
        </p:nvSpPr>
        <p:spPr/>
        <p:txBody>
          <a:bodyPr/>
          <a:lstStyle/>
          <a:p>
            <a:fld id="{58020196-A18A-49C8-9F41-BD23247A7CD0}" type="slidenum">
              <a:rPr kumimoji="1" lang="ja-JP" altLang="en-US" smtClean="0"/>
              <a:t>9</a:t>
            </a:fld>
            <a:endParaRPr kumimoji="1" lang="ja-JP" altLang="en-US"/>
          </a:p>
        </p:txBody>
      </p:sp>
    </p:spTree>
    <p:extLst>
      <p:ext uri="{BB962C8B-B14F-4D97-AF65-F5344CB8AC3E}">
        <p14:creationId xmlns:p14="http://schemas.microsoft.com/office/powerpoint/2010/main" val="3127239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92B55-2C19-2954-ECAD-173DD91D0B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D36F98-DBD9-724E-8D7C-B7A63E10F0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B3ED29-D378-A674-FED0-4624FF6BEDB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1CC6B7A8-D08D-607E-FF82-BC6266E09B70}"/>
              </a:ext>
            </a:extLst>
          </p:cNvPr>
          <p:cNvSpPr>
            <a:spLocks noGrp="1"/>
          </p:cNvSpPr>
          <p:nvPr>
            <p:ph type="sldNum" sz="quarter" idx="5"/>
          </p:nvPr>
        </p:nvSpPr>
        <p:spPr/>
        <p:txBody>
          <a:bodyPr/>
          <a:lstStyle/>
          <a:p>
            <a:fld id="{58020196-A18A-49C8-9F41-BD23247A7CD0}" type="slidenum">
              <a:rPr kumimoji="1" lang="ja-JP" altLang="en-US" smtClean="0"/>
              <a:t>10</a:t>
            </a:fld>
            <a:endParaRPr kumimoji="1" lang="ja-JP" altLang="en-US"/>
          </a:p>
        </p:txBody>
      </p:sp>
    </p:spTree>
    <p:extLst>
      <p:ext uri="{BB962C8B-B14F-4D97-AF65-F5344CB8AC3E}">
        <p14:creationId xmlns:p14="http://schemas.microsoft.com/office/powerpoint/2010/main" val="1288926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D6B6-D1D2-2AA3-59EE-3E256251A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77225A-261A-3AB2-30DF-0263DCF0EB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C4F128-AC96-F395-ECD9-FD7645366798}"/>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C3B88632-8EC3-0B9E-0EA9-0F347AE6B5AE}"/>
              </a:ext>
            </a:extLst>
          </p:cNvPr>
          <p:cNvSpPr>
            <a:spLocks noGrp="1"/>
          </p:cNvSpPr>
          <p:nvPr>
            <p:ph type="sldNum" sz="quarter" idx="5"/>
          </p:nvPr>
        </p:nvSpPr>
        <p:spPr/>
        <p:txBody>
          <a:bodyPr/>
          <a:lstStyle/>
          <a:p>
            <a:fld id="{58020196-A18A-49C8-9F41-BD23247A7CD0}" type="slidenum">
              <a:rPr kumimoji="1" lang="ja-JP" altLang="en-US" smtClean="0"/>
              <a:t>11</a:t>
            </a:fld>
            <a:endParaRPr kumimoji="1" lang="ja-JP" altLang="en-US"/>
          </a:p>
        </p:txBody>
      </p:sp>
    </p:spTree>
    <p:extLst>
      <p:ext uri="{BB962C8B-B14F-4D97-AF65-F5344CB8AC3E}">
        <p14:creationId xmlns:p14="http://schemas.microsoft.com/office/powerpoint/2010/main" val="1316545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39C8E-CA97-D796-095F-043DA00372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E998D3-BD92-5EC8-8053-F0F0311CC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D1DA90-606F-8E25-24A2-5CC433135B19}"/>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47E14223-ACDB-B2DE-BFA8-8BBCBAF89530}"/>
              </a:ext>
            </a:extLst>
          </p:cNvPr>
          <p:cNvSpPr>
            <a:spLocks noGrp="1"/>
          </p:cNvSpPr>
          <p:nvPr>
            <p:ph type="sldNum" sz="quarter" idx="5"/>
          </p:nvPr>
        </p:nvSpPr>
        <p:spPr/>
        <p:txBody>
          <a:bodyPr/>
          <a:lstStyle/>
          <a:p>
            <a:fld id="{58020196-A18A-49C8-9F41-BD23247A7CD0}" type="slidenum">
              <a:rPr kumimoji="1" lang="ja-JP" altLang="en-US" smtClean="0"/>
              <a:t>12</a:t>
            </a:fld>
            <a:endParaRPr kumimoji="1" lang="ja-JP" altLang="en-US"/>
          </a:p>
        </p:txBody>
      </p:sp>
    </p:spTree>
    <p:extLst>
      <p:ext uri="{BB962C8B-B14F-4D97-AF65-F5344CB8AC3E}">
        <p14:creationId xmlns:p14="http://schemas.microsoft.com/office/powerpoint/2010/main" val="2149980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71E40-0D15-E929-CA6E-58E22AD57E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2EA68E-2DDE-0105-685C-1D4C55C310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6DDF3CF-B0A1-6E39-BA0C-51431FA7B703}"/>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5004B5FC-DF55-9EE4-22B8-99D2D727CF15}"/>
              </a:ext>
            </a:extLst>
          </p:cNvPr>
          <p:cNvSpPr>
            <a:spLocks noGrp="1"/>
          </p:cNvSpPr>
          <p:nvPr>
            <p:ph type="sldNum" sz="quarter" idx="5"/>
          </p:nvPr>
        </p:nvSpPr>
        <p:spPr/>
        <p:txBody>
          <a:bodyPr/>
          <a:lstStyle/>
          <a:p>
            <a:fld id="{58020196-A18A-49C8-9F41-BD23247A7CD0}" type="slidenum">
              <a:rPr kumimoji="1" lang="ja-JP" altLang="en-US" smtClean="0"/>
              <a:t>13</a:t>
            </a:fld>
            <a:endParaRPr kumimoji="1" lang="ja-JP" altLang="en-US"/>
          </a:p>
        </p:txBody>
      </p:sp>
    </p:spTree>
    <p:extLst>
      <p:ext uri="{BB962C8B-B14F-4D97-AF65-F5344CB8AC3E}">
        <p14:creationId xmlns:p14="http://schemas.microsoft.com/office/powerpoint/2010/main" val="869316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3BA9-F3E5-FAEB-D4AF-052326A385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AE8288-4A1F-1775-1DE6-4309C72F12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0541F5-AD4E-C9C5-639F-A7A868950C50}"/>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D24606B9-D233-2FB6-8BCF-6258161E276C}"/>
              </a:ext>
            </a:extLst>
          </p:cNvPr>
          <p:cNvSpPr>
            <a:spLocks noGrp="1"/>
          </p:cNvSpPr>
          <p:nvPr>
            <p:ph type="sldNum" sz="quarter" idx="5"/>
          </p:nvPr>
        </p:nvSpPr>
        <p:spPr/>
        <p:txBody>
          <a:bodyPr/>
          <a:lstStyle/>
          <a:p>
            <a:fld id="{58020196-A18A-49C8-9F41-BD23247A7CD0}" type="slidenum">
              <a:rPr kumimoji="1" lang="ja-JP" altLang="en-US" smtClean="0"/>
              <a:t>14</a:t>
            </a:fld>
            <a:endParaRPr kumimoji="1" lang="ja-JP" altLang="en-US"/>
          </a:p>
        </p:txBody>
      </p:sp>
    </p:spTree>
    <p:extLst>
      <p:ext uri="{BB962C8B-B14F-4D97-AF65-F5344CB8AC3E}">
        <p14:creationId xmlns:p14="http://schemas.microsoft.com/office/powerpoint/2010/main" val="3039354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C0FFC-25FE-AB76-F1F1-4CADB7A2431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0C5A99-9C10-736D-0D40-BD09AA934C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7231F0-C664-4E6F-70C2-FB1DDF2F8D1D}"/>
              </a:ext>
            </a:extLst>
          </p:cNvPr>
          <p:cNvSpPr>
            <a:spLocks noGrp="1"/>
          </p:cNvSpPr>
          <p:nvPr>
            <p:ph type="body" idx="1"/>
          </p:nvPr>
        </p:nvSpPr>
        <p:spPr/>
        <p:txBody>
          <a:bodyPr/>
          <a:lstStyle/>
          <a:p>
            <a:r>
              <a:rPr kumimoji="1" lang="ja-JP" altLang="en-US" dirty="0"/>
              <a:t>他車両センター見学</a:t>
            </a:r>
            <a:endParaRPr kumimoji="1" lang="en-US" altLang="ja-JP" dirty="0"/>
          </a:p>
          <a:p>
            <a:r>
              <a:rPr kumimoji="1" lang="ja-JP" altLang="en-US" dirty="0"/>
              <a:t>他企業見学</a:t>
            </a:r>
            <a:endParaRPr kumimoji="1" lang="en-US" altLang="ja-JP" dirty="0"/>
          </a:p>
          <a:p>
            <a:r>
              <a:rPr kumimoji="1" lang="ja-JP" altLang="en-US" dirty="0"/>
              <a:t>マクロ作成</a:t>
            </a:r>
            <a:endParaRPr kumimoji="1" lang="en-US" altLang="ja-JP" dirty="0"/>
          </a:p>
          <a:p>
            <a:r>
              <a:rPr kumimoji="1" lang="ja-JP" altLang="en-US" dirty="0"/>
              <a:t>検証・改善</a:t>
            </a:r>
            <a:endParaRPr kumimoji="1" lang="en-US" altLang="ja-JP" dirty="0"/>
          </a:p>
        </p:txBody>
      </p:sp>
      <p:sp>
        <p:nvSpPr>
          <p:cNvPr id="4" name="スライド番号プレースホルダー 3">
            <a:extLst>
              <a:ext uri="{FF2B5EF4-FFF2-40B4-BE49-F238E27FC236}">
                <a16:creationId xmlns:a16="http://schemas.microsoft.com/office/drawing/2014/main" id="{C9823042-7B64-D5DD-B966-A03ADF22B5A6}"/>
              </a:ext>
            </a:extLst>
          </p:cNvPr>
          <p:cNvSpPr>
            <a:spLocks noGrp="1"/>
          </p:cNvSpPr>
          <p:nvPr>
            <p:ph type="sldNum" sz="quarter" idx="5"/>
          </p:nvPr>
        </p:nvSpPr>
        <p:spPr/>
        <p:txBody>
          <a:bodyPr/>
          <a:lstStyle/>
          <a:p>
            <a:fld id="{58020196-A18A-49C8-9F41-BD23247A7CD0}" type="slidenum">
              <a:rPr kumimoji="1" lang="ja-JP" altLang="en-US" smtClean="0"/>
              <a:t>15</a:t>
            </a:fld>
            <a:endParaRPr kumimoji="1" lang="ja-JP" altLang="en-US"/>
          </a:p>
        </p:txBody>
      </p:sp>
    </p:spTree>
    <p:extLst>
      <p:ext uri="{BB962C8B-B14F-4D97-AF65-F5344CB8AC3E}">
        <p14:creationId xmlns:p14="http://schemas.microsoft.com/office/powerpoint/2010/main" val="1545473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06CF-7004-35F0-76E2-220A9FAFBC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22BABD-97AB-302A-239D-4B919C7B43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705D78-EA23-4D1B-226A-517BBDDD37AA}"/>
              </a:ext>
            </a:extLst>
          </p:cNvPr>
          <p:cNvSpPr>
            <a:spLocks noGrp="1"/>
          </p:cNvSpPr>
          <p:nvPr>
            <p:ph type="body" idx="1"/>
          </p:nvPr>
        </p:nvSpPr>
        <p:spPr/>
        <p:txBody>
          <a:bodyPr/>
          <a:lstStyle/>
          <a:p>
            <a:pPr marL="0" indent="0">
              <a:buNone/>
            </a:pPr>
            <a:r>
              <a:rPr lang="ja-JP" altLang="en-US" dirty="0">
                <a:ea typeface="ＭＳ Ｐゴシック"/>
              </a:rPr>
              <a:t>一方、</a:t>
            </a:r>
          </a:p>
          <a:p>
            <a:pPr marL="0" indent="0">
              <a:buNone/>
            </a:pPr>
            <a:r>
              <a:rPr lang="ja-JP" altLang="en-US" dirty="0">
                <a:ea typeface="ＭＳ Ｐゴシック"/>
              </a:rPr>
              <a:t>指令の運用整理を車セが断る事象発生（</a:t>
            </a:r>
            <a:r>
              <a:rPr lang="en-US" altLang="ja-JP" dirty="0">
                <a:ea typeface="ＭＳ Ｐゴシック"/>
              </a:rPr>
              <a:t>2024</a:t>
            </a:r>
            <a:r>
              <a:rPr lang="ja-JP" altLang="en-US" dirty="0">
                <a:ea typeface="ＭＳ Ｐゴシック"/>
              </a:rPr>
              <a:t>年</a:t>
            </a:r>
            <a:r>
              <a:rPr lang="en-US" altLang="ja-JP" dirty="0">
                <a:ea typeface="ＭＳ Ｐゴシック"/>
              </a:rPr>
              <a:t>11</a:t>
            </a:r>
            <a:r>
              <a:rPr lang="ja-JP" altLang="en-US" dirty="0">
                <a:ea typeface="ＭＳ Ｐゴシック"/>
              </a:rPr>
              <a:t>月７日、</a:t>
            </a:r>
            <a:r>
              <a:rPr lang="en-US" altLang="ja-JP" dirty="0">
                <a:ea typeface="ＭＳ Ｐゴシック"/>
              </a:rPr>
              <a:t>15</a:t>
            </a:r>
            <a:r>
              <a:rPr lang="ja-JP" altLang="en-US" dirty="0">
                <a:ea typeface="ＭＳ Ｐゴシック"/>
              </a:rPr>
              <a:t>日）</a:t>
            </a:r>
          </a:p>
          <a:p>
            <a:pPr marL="0" indent="0">
              <a:buNone/>
            </a:pPr>
            <a:r>
              <a:rPr lang="ja-JP" altLang="en-US" dirty="0">
                <a:ea typeface="ＭＳ Ｐゴシック"/>
              </a:rPr>
              <a:t>お客さまにとってどれだけの影響があったか（遅延や運休、乗り換え接続不良など）</a:t>
            </a:r>
            <a:endParaRPr lang="en-US" altLang="ja-JP" dirty="0">
              <a:ea typeface="ＭＳ Ｐゴシック"/>
            </a:endParaRPr>
          </a:p>
          <a:p>
            <a:pPr marL="0" indent="0">
              <a:buNone/>
            </a:pPr>
            <a:r>
              <a:rPr lang="en-US" altLang="ja-JP" dirty="0">
                <a:ea typeface="ＭＳ Ｐゴシック"/>
              </a:rPr>
              <a:t>〈</a:t>
            </a:r>
            <a:r>
              <a:rPr lang="ja-JP" altLang="en-US" dirty="0">
                <a:ea typeface="ＭＳ Ｐゴシック"/>
              </a:rPr>
              <a:t>２回発生したうち１つを紹介</a:t>
            </a:r>
            <a:r>
              <a:rPr lang="en-US" altLang="ja-JP" dirty="0">
                <a:ea typeface="ＭＳ Ｐゴシック"/>
              </a:rPr>
              <a:t>〉</a:t>
            </a:r>
            <a:endParaRPr lang="ja-JP" altLang="en-US" dirty="0">
              <a:ea typeface="ＭＳ Ｐゴシック"/>
            </a:endParaRPr>
          </a:p>
          <a:p>
            <a:endParaRPr kumimoji="1" lang="en-US" altLang="ja-JP" dirty="0"/>
          </a:p>
        </p:txBody>
      </p:sp>
      <p:sp>
        <p:nvSpPr>
          <p:cNvPr id="4" name="スライド番号プレースホルダー 3">
            <a:extLst>
              <a:ext uri="{FF2B5EF4-FFF2-40B4-BE49-F238E27FC236}">
                <a16:creationId xmlns:a16="http://schemas.microsoft.com/office/drawing/2014/main" id="{5FBD5F09-FFE2-4783-3C74-016BA9D43CDA}"/>
              </a:ext>
            </a:extLst>
          </p:cNvPr>
          <p:cNvSpPr>
            <a:spLocks noGrp="1"/>
          </p:cNvSpPr>
          <p:nvPr>
            <p:ph type="sldNum" sz="quarter" idx="5"/>
          </p:nvPr>
        </p:nvSpPr>
        <p:spPr/>
        <p:txBody>
          <a:bodyPr/>
          <a:lstStyle/>
          <a:p>
            <a:fld id="{58020196-A18A-49C8-9F41-BD23247A7CD0}" type="slidenum">
              <a:rPr kumimoji="1" lang="ja-JP" altLang="en-US" smtClean="0"/>
              <a:t>16</a:t>
            </a:fld>
            <a:endParaRPr kumimoji="1" lang="ja-JP" altLang="en-US"/>
          </a:p>
        </p:txBody>
      </p:sp>
    </p:spTree>
    <p:extLst>
      <p:ext uri="{BB962C8B-B14F-4D97-AF65-F5344CB8AC3E}">
        <p14:creationId xmlns:p14="http://schemas.microsoft.com/office/powerpoint/2010/main" val="2951492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3D34-9BDC-626E-09CA-8F27E7A93F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B42360-EAF8-097D-E0D7-0BECDF5AE9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7E4B32F-C293-4A48-BB77-B10B00C7C8CF}"/>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628053AB-FD57-EA24-21BC-70777E4F3067}"/>
              </a:ext>
            </a:extLst>
          </p:cNvPr>
          <p:cNvSpPr>
            <a:spLocks noGrp="1"/>
          </p:cNvSpPr>
          <p:nvPr>
            <p:ph type="sldNum" sz="quarter" idx="5"/>
          </p:nvPr>
        </p:nvSpPr>
        <p:spPr/>
        <p:txBody>
          <a:bodyPr/>
          <a:lstStyle/>
          <a:p>
            <a:fld id="{58020196-A18A-49C8-9F41-BD23247A7CD0}" type="slidenum">
              <a:rPr kumimoji="1" lang="ja-JP" altLang="en-US" smtClean="0"/>
              <a:t>17</a:t>
            </a:fld>
            <a:endParaRPr kumimoji="1" lang="ja-JP" altLang="en-US"/>
          </a:p>
        </p:txBody>
      </p:sp>
    </p:spTree>
    <p:extLst>
      <p:ext uri="{BB962C8B-B14F-4D97-AF65-F5344CB8AC3E}">
        <p14:creationId xmlns:p14="http://schemas.microsoft.com/office/powerpoint/2010/main" val="1695213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28C13-D8AC-95AA-F7B5-B309EA9FFC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35FD1D-34E9-3A32-A8EC-0299301999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D062F1-D741-4A07-ED22-F6A0540CCF3F}"/>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50F7C063-4E0E-95B8-578D-8FB0FF775975}"/>
              </a:ext>
            </a:extLst>
          </p:cNvPr>
          <p:cNvSpPr>
            <a:spLocks noGrp="1"/>
          </p:cNvSpPr>
          <p:nvPr>
            <p:ph type="sldNum" sz="quarter" idx="5"/>
          </p:nvPr>
        </p:nvSpPr>
        <p:spPr/>
        <p:txBody>
          <a:bodyPr/>
          <a:lstStyle/>
          <a:p>
            <a:fld id="{58020196-A18A-49C8-9F41-BD23247A7CD0}" type="slidenum">
              <a:rPr kumimoji="1" lang="ja-JP" altLang="en-US" smtClean="0"/>
              <a:t>18</a:t>
            </a:fld>
            <a:endParaRPr kumimoji="1" lang="ja-JP" altLang="en-US"/>
          </a:p>
        </p:txBody>
      </p:sp>
    </p:spTree>
    <p:extLst>
      <p:ext uri="{BB962C8B-B14F-4D97-AF65-F5344CB8AC3E}">
        <p14:creationId xmlns:p14="http://schemas.microsoft.com/office/powerpoint/2010/main" val="763257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2A261-778E-DC52-A1AC-74F5FD8F74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857683-FF14-D104-020A-FFD1070D51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1B4F6D-B2D9-0324-B924-5027172AE1EF}"/>
              </a:ext>
            </a:extLst>
          </p:cNvPr>
          <p:cNvSpPr>
            <a:spLocks noGrp="1"/>
          </p:cNvSpPr>
          <p:nvPr>
            <p:ph type="body" idx="1"/>
          </p:nvPr>
        </p:nvSpPr>
        <p:spPr/>
        <p:txBody>
          <a:bodyPr/>
          <a:lstStyle/>
          <a:p>
            <a:r>
              <a:rPr kumimoji="1" lang="ja-JP" altLang="en-US" dirty="0"/>
              <a:t>出区表は相互の情報をもとに作成</a:t>
            </a:r>
            <a:endParaRPr kumimoji="1" lang="en-US" altLang="ja-JP" dirty="0"/>
          </a:p>
          <a:p>
            <a:r>
              <a:rPr kumimoji="1" lang="ja-JP" altLang="en-US" dirty="0"/>
              <a:t>清掃・仕業は運用表だけから作れる</a:t>
            </a:r>
            <a:endParaRPr kumimoji="1" lang="en-US" altLang="ja-JP" dirty="0"/>
          </a:p>
        </p:txBody>
      </p:sp>
      <p:sp>
        <p:nvSpPr>
          <p:cNvPr id="4" name="スライド番号プレースホルダー 3">
            <a:extLst>
              <a:ext uri="{FF2B5EF4-FFF2-40B4-BE49-F238E27FC236}">
                <a16:creationId xmlns:a16="http://schemas.microsoft.com/office/drawing/2014/main" id="{5AB2CCD3-A191-E58D-15F0-43010BCC1559}"/>
              </a:ext>
            </a:extLst>
          </p:cNvPr>
          <p:cNvSpPr>
            <a:spLocks noGrp="1"/>
          </p:cNvSpPr>
          <p:nvPr>
            <p:ph type="sldNum" sz="quarter" idx="5"/>
          </p:nvPr>
        </p:nvSpPr>
        <p:spPr/>
        <p:txBody>
          <a:bodyPr/>
          <a:lstStyle/>
          <a:p>
            <a:fld id="{58020196-A18A-49C8-9F41-BD23247A7CD0}" type="slidenum">
              <a:rPr kumimoji="1" lang="ja-JP" altLang="en-US" smtClean="0"/>
              <a:t>19</a:t>
            </a:fld>
            <a:endParaRPr kumimoji="1" lang="ja-JP" altLang="en-US"/>
          </a:p>
        </p:txBody>
      </p:sp>
    </p:spTree>
    <p:extLst>
      <p:ext uri="{BB962C8B-B14F-4D97-AF65-F5344CB8AC3E}">
        <p14:creationId xmlns:p14="http://schemas.microsoft.com/office/powerpoint/2010/main" val="1923858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4223BEDD-1F0C-4769-B5A4-FFDF54345F0C}" type="datetime1">
              <a:rPr kumimoji="1" lang="ja-JP" altLang="en-US" smtClean="0"/>
              <a:t>2026/7/27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4126184-2FCF-4EDA-8972-4551AA615BBD}" type="datetime1">
              <a:rPr kumimoji="1" lang="ja-JP" altLang="en-US" smtClean="0"/>
              <a:t>2026/7/27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ADAF18A5-6354-4BB5-93A2-5B6CCF873613}" type="datetime1">
              <a:rPr kumimoji="1" lang="ja-JP" altLang="en-US" smtClean="0"/>
              <a:t>2026/7/27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2DD73F17-FC40-450B-BED6-87473CC1306A}" type="datetime1">
              <a:rPr kumimoji="1" lang="ja-JP" altLang="en-US" smtClean="0"/>
              <a:t>2026/7/27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46FBFA72-5A32-4A71-B482-846F91AD2A1A}" type="datetime1">
              <a:rPr kumimoji="1" lang="ja-JP" altLang="en-US" smtClean="0"/>
              <a:t>2026/7/27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A619319F-D703-4F0B-9EF8-7FFD6CABF827}" type="datetime1">
              <a:rPr kumimoji="1" lang="ja-JP" altLang="en-US" smtClean="0"/>
              <a:t>2026/7/27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C619674-2D80-4180-8E01-2D2179F6FE0D}" type="datetime1">
              <a:rPr kumimoji="1" lang="ja-JP" altLang="en-US" smtClean="0"/>
              <a:t>2026/7/27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A94B4589-6DAF-4786-8BE2-BC05227392C4}" type="datetime1">
              <a:rPr kumimoji="1" lang="ja-JP" altLang="en-US" smtClean="0"/>
              <a:t>2026/7/27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FB349F6-94A7-4AD1-B099-A1922A6378AC}" type="datetime1">
              <a:rPr kumimoji="1" lang="ja-JP" altLang="en-US" smtClean="0"/>
              <a:t>2026/7/27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BADF7B7-92F2-4644-B777-27F3CD8BF1E8}" type="datetime1">
              <a:rPr kumimoji="1" lang="ja-JP" altLang="en-US" smtClean="0"/>
              <a:t>2026/7/27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D443957-813A-4F58-8CC8-2D3ACBC92E5C}" type="datetime1">
              <a:rPr kumimoji="1" lang="ja-JP" altLang="en-US" smtClean="0"/>
              <a:t>2026/7/27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00609C-CD14-4A1D-B524-FFA971D7CB41}" type="datetime1">
              <a:rPr kumimoji="1" lang="ja-JP" altLang="en-US" smtClean="0"/>
              <a:t>2026/7/27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joinet.sharepoint.com/sites/PASTA_menu/SitePages/SCORE.aspx"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joinet.sharepoint.com/:u:/r/sites/o365info/SitePages/inter-enterprise-collaboration.aspx?csf=1&amp;web=1&amp;e=LQJYJ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joinet.sharepoint.com/sites/box-info/SitePages/zero-tenant.aspx?referrer=Yammer&amp;referrerScenario=Feed.View&amp;TeamsCID=5e3e07a9-0c13-4b33-85ae-2fd41c6c16f1&amp;linkOpenTime=1782988650123&amp;or=PPT-WEB.BODY.NT&amp;ct=1783073967040"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stretch>
            <a:fillRect t="-9000" b="-9000"/>
          </a:stretch>
        </a:blipFill>
        <a:effectLst/>
      </p:bgPr>
    </p:bg>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7142922" y="4473997"/>
            <a:ext cx="4556242" cy="1655762"/>
          </a:xfrm>
          <a:solidFill>
            <a:srgbClr val="00B0F0"/>
          </a:solidFill>
        </p:spPr>
        <p:txBody>
          <a:bodyPr vert="horz" lIns="91440" tIns="45720" rIns="91440" bIns="45720" rtlCol="0" anchor="ctr">
            <a:normAutofit/>
          </a:bodyPr>
          <a:lstStyle/>
          <a:p>
            <a:pPr algn="r"/>
            <a:r>
              <a:rPr lang="ja-JP" altLang="en-US" sz="2000" dirty="0">
                <a:solidFill>
                  <a:schemeClr val="bg1"/>
                </a:solidFill>
                <a:ea typeface="ＭＳ Ｐゴシック"/>
              </a:rPr>
              <a:t>八王子事業本部　事業推進部　　</a:t>
            </a:r>
            <a:endParaRPr lang="en-US" altLang="ja-JP" sz="2000" dirty="0">
              <a:solidFill>
                <a:schemeClr val="bg1"/>
              </a:solidFill>
              <a:ea typeface="ＭＳ Ｐゴシック"/>
            </a:endParaRPr>
          </a:p>
          <a:p>
            <a:pPr algn="r"/>
            <a:r>
              <a:rPr lang="ja-JP" altLang="en-US" sz="2000" dirty="0">
                <a:solidFill>
                  <a:schemeClr val="bg1"/>
                </a:solidFill>
                <a:ea typeface="ＭＳ Ｐゴシック"/>
              </a:rPr>
              <a:t>地域共創モビリティユニット　豊田車両　</a:t>
            </a:r>
            <a:endParaRPr lang="en-US" altLang="ja-JP" sz="2000" dirty="0">
              <a:solidFill>
                <a:schemeClr val="bg1"/>
              </a:solidFill>
              <a:ea typeface="ＭＳ Ｐゴシック"/>
            </a:endParaRPr>
          </a:p>
          <a:p>
            <a:pPr algn="r"/>
            <a:r>
              <a:rPr lang="ja-JP" altLang="en-US" sz="2800" dirty="0">
                <a:solidFill>
                  <a:schemeClr val="bg1"/>
                </a:solidFill>
                <a:ea typeface="ＭＳ Ｐゴシック"/>
              </a:rPr>
              <a:t>高鹿　綾華</a:t>
            </a:r>
          </a:p>
        </p:txBody>
      </p:sp>
      <p:sp>
        <p:nvSpPr>
          <p:cNvPr id="4" name="TextBox 3">
            <a:extLst>
              <a:ext uri="{FF2B5EF4-FFF2-40B4-BE49-F238E27FC236}">
                <a16:creationId xmlns:a16="http://schemas.microsoft.com/office/drawing/2014/main" id="{205EEC82-1630-8D93-4ACE-980D13AC9D2C}"/>
              </a:ext>
            </a:extLst>
          </p:cNvPr>
          <p:cNvSpPr txBox="1"/>
          <p:nvPr/>
        </p:nvSpPr>
        <p:spPr>
          <a:xfrm>
            <a:off x="4027714" y="634687"/>
            <a:ext cx="475847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ja-JP" sz="2400" dirty="0">
                <a:latin typeface="MS PGothic"/>
                <a:ea typeface="MS PGothic"/>
              </a:rPr>
              <a:t>2026</a:t>
            </a:r>
            <a:r>
              <a:rPr lang="ja-JP" altLang="en-US" sz="2400" dirty="0">
                <a:latin typeface="MS PGothic"/>
                <a:ea typeface="MS PGothic"/>
              </a:rPr>
              <a:t>年</a:t>
            </a:r>
            <a:r>
              <a:rPr lang="en-US" altLang="ja-JP" sz="2400" dirty="0">
                <a:latin typeface="MS PGothic"/>
                <a:ea typeface="MS PGothic"/>
              </a:rPr>
              <a:t>8</a:t>
            </a:r>
            <a:r>
              <a:rPr lang="ja-JP" altLang="en-US" sz="2400" dirty="0">
                <a:latin typeface="MS PGothic"/>
                <a:ea typeface="MS PGothic"/>
              </a:rPr>
              <a:t>月</a:t>
            </a:r>
            <a:r>
              <a:rPr lang="en-US" altLang="ja-JP" sz="2400" dirty="0">
                <a:latin typeface="MS PGothic"/>
                <a:ea typeface="MS PGothic"/>
              </a:rPr>
              <a:t>5</a:t>
            </a:r>
            <a:r>
              <a:rPr lang="ja-JP" altLang="en-US" sz="2400" dirty="0">
                <a:latin typeface="MS PGothic"/>
                <a:ea typeface="MS PGothic"/>
              </a:rPr>
              <a:t>日（水）</a:t>
            </a:r>
            <a:endParaRPr lang="en-US" altLang="ja-JP" sz="2400" dirty="0">
              <a:latin typeface="MS PGothic"/>
              <a:ea typeface="MS PGothic"/>
            </a:endParaRPr>
          </a:p>
          <a:p>
            <a:pPr algn="ctr"/>
            <a:r>
              <a:rPr lang="ja-JP" altLang="en-US" sz="2400" dirty="0">
                <a:latin typeface="MS PGothic"/>
                <a:ea typeface="MS PGothic"/>
              </a:rPr>
              <a:t>　首都圏本部中間報告</a:t>
            </a:r>
            <a:endParaRPr lang="en-US" sz="2400" dirty="0">
              <a:latin typeface="MS PGothic"/>
              <a:ea typeface="MS PGothic"/>
            </a:endParaRPr>
          </a:p>
        </p:txBody>
      </p:sp>
      <p:sp>
        <p:nvSpPr>
          <p:cNvPr id="5" name="スライド番号プレースホルダー 4">
            <a:extLst>
              <a:ext uri="{FF2B5EF4-FFF2-40B4-BE49-F238E27FC236}">
                <a16:creationId xmlns:a16="http://schemas.microsoft.com/office/drawing/2014/main" id="{E7664639-0FDB-4009-CBBF-D0DC989F3493}"/>
              </a:ext>
            </a:extLst>
          </p:cNvPr>
          <p:cNvSpPr>
            <a:spLocks noGrp="1"/>
          </p:cNvSpPr>
          <p:nvPr>
            <p:ph type="sldNum" sz="quarter" idx="12"/>
          </p:nvPr>
        </p:nvSpPr>
        <p:spPr/>
        <p:txBody>
          <a:bodyPr/>
          <a:lstStyle/>
          <a:p>
            <a:fld id="{A99D720A-4AD5-4DCF-885F-DE5297996123}" type="slidenum">
              <a:rPr kumimoji="1" lang="ja-JP" altLang="en-US" smtClean="0"/>
              <a:t>1</a:t>
            </a:fld>
            <a:endParaRPr kumimoji="1" lang="ja-JP" altLang="en-US"/>
          </a:p>
        </p:txBody>
      </p:sp>
      <p:sp>
        <p:nvSpPr>
          <p:cNvPr id="7" name="正方形/長方形 6">
            <a:extLst>
              <a:ext uri="{FF2B5EF4-FFF2-40B4-BE49-F238E27FC236}">
                <a16:creationId xmlns:a16="http://schemas.microsoft.com/office/drawing/2014/main" id="{F50D3DB9-CABD-58EC-C428-40BC5FA77684}"/>
              </a:ext>
            </a:extLst>
          </p:cNvPr>
          <p:cNvSpPr/>
          <p:nvPr/>
        </p:nvSpPr>
        <p:spPr>
          <a:xfrm>
            <a:off x="0" y="1942797"/>
            <a:ext cx="12192000" cy="205408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ja-JP" sz="4800" dirty="0"/>
              <a:t>車両検修職場での</a:t>
            </a:r>
            <a:r>
              <a:rPr lang="en-US" altLang="ja-JP" sz="4800" dirty="0"/>
              <a:t>DX</a:t>
            </a:r>
            <a:r>
              <a:rPr lang="ja-JP" altLang="ja-JP" sz="4800" dirty="0"/>
              <a:t>による</a:t>
            </a:r>
            <a:endParaRPr lang="en-US" altLang="ja-JP" sz="4800" dirty="0"/>
          </a:p>
          <a:p>
            <a:pPr algn="ctr"/>
            <a:r>
              <a:rPr lang="ja-JP" altLang="ja-JP" sz="4800" dirty="0"/>
              <a:t>業務効率化に向けた研究</a:t>
            </a:r>
            <a:endParaRPr kumimoji="1" lang="ja-JP" altLang="en-US" sz="4800" dirty="0"/>
          </a:p>
        </p:txBody>
      </p:sp>
    </p:spTree>
    <p:extLst>
      <p:ext uri="{BB962C8B-B14F-4D97-AF65-F5344CB8AC3E}">
        <p14:creationId xmlns:p14="http://schemas.microsoft.com/office/powerpoint/2010/main" val="2128380218"/>
      </p:ext>
    </p:extLst>
  </p:cSld>
  <p:clrMapOvr>
    <a:masterClrMapping/>
  </p:clrMapOvr>
  <mc:AlternateContent xmlns:mc="http://schemas.openxmlformats.org/markup-compatibility/2006" xmlns:p14="http://schemas.microsoft.com/office/powerpoint/2010/main">
    <mc:Choice Requires="p14">
      <p:transition spd="slow" p14:dur="2000" advTm="8949"/>
    </mc:Choice>
    <mc:Fallback xmlns="">
      <p:transition spd="slow" advTm="89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48CF-8798-B710-1BAA-342B94F9BB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7D4A83-50BA-89A8-B852-56D491D87636}"/>
              </a:ext>
            </a:extLst>
          </p:cNvPr>
          <p:cNvSpPr/>
          <p:nvPr/>
        </p:nvSpPr>
        <p:spPr>
          <a:xfrm>
            <a:off x="0" y="-57944"/>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背景</a:t>
            </a:r>
            <a:endParaRPr lang="en-US" sz="3200" dirty="0">
              <a:ea typeface="ＭＳ Ｐゴシック"/>
            </a:endParaRPr>
          </a:p>
        </p:txBody>
      </p:sp>
      <p:sp>
        <p:nvSpPr>
          <p:cNvPr id="5" name="Rectangle 4">
            <a:extLst>
              <a:ext uri="{FF2B5EF4-FFF2-40B4-BE49-F238E27FC236}">
                <a16:creationId xmlns:a16="http://schemas.microsoft.com/office/drawing/2014/main" id="{CFFBE146-FFED-3F2B-00DD-97DF483308E7}"/>
              </a:ext>
            </a:extLst>
          </p:cNvPr>
          <p:cNvSpPr/>
          <p:nvPr/>
        </p:nvSpPr>
        <p:spPr>
          <a:xfrm>
            <a:off x="0" y="892676"/>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F12FC9D9-8F2A-D730-9303-8780D3B5708E}"/>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2</a:t>
            </a:fld>
            <a:endParaRPr kumimoji="1" lang="ja-JP" altLang="en-US"/>
          </a:p>
        </p:txBody>
      </p:sp>
      <p:pic>
        <p:nvPicPr>
          <p:cNvPr id="7" name="図 6" descr="ダイアグラム, テキスト&#10;&#10;AI 生成コンテンツは誤りを含む可能性があります。">
            <a:extLst>
              <a:ext uri="{FF2B5EF4-FFF2-40B4-BE49-F238E27FC236}">
                <a16:creationId xmlns:a16="http://schemas.microsoft.com/office/drawing/2014/main" id="{493ADF55-76C9-73A9-FCCF-4449B7ABBD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8035" y="3267004"/>
            <a:ext cx="4656374" cy="3281267"/>
          </a:xfrm>
          <a:prstGeom prst="rect">
            <a:avLst/>
          </a:prstGeom>
        </p:spPr>
      </p:pic>
      <p:pic>
        <p:nvPicPr>
          <p:cNvPr id="10" name="図 9" descr="ダイアグラム&#10;&#10;AI 生成コンテンツは誤りを含む可能性があります。">
            <a:extLst>
              <a:ext uri="{FF2B5EF4-FFF2-40B4-BE49-F238E27FC236}">
                <a16:creationId xmlns:a16="http://schemas.microsoft.com/office/drawing/2014/main" id="{F6F0B219-05A4-1293-C133-4D47A4E92E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815" y="3225823"/>
            <a:ext cx="4281764" cy="3363630"/>
          </a:xfrm>
          <a:prstGeom prst="rect">
            <a:avLst/>
          </a:prstGeom>
        </p:spPr>
      </p:pic>
      <p:sp>
        <p:nvSpPr>
          <p:cNvPr id="14" name="四角形: 角を丸くする 13">
            <a:extLst>
              <a:ext uri="{FF2B5EF4-FFF2-40B4-BE49-F238E27FC236}">
                <a16:creationId xmlns:a16="http://schemas.microsoft.com/office/drawing/2014/main" id="{3F065860-FC66-8105-9F84-06CAC7AA9B83}"/>
              </a:ext>
            </a:extLst>
          </p:cNvPr>
          <p:cNvSpPr/>
          <p:nvPr/>
        </p:nvSpPr>
        <p:spPr>
          <a:xfrm>
            <a:off x="1000815" y="1530880"/>
            <a:ext cx="4505739" cy="152400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latin typeface="+mj-ea"/>
                <a:ea typeface="+mj-ea"/>
              </a:rPr>
              <a:t>組織再編</a:t>
            </a:r>
            <a:endParaRPr kumimoji="1" lang="en-US" altLang="ja-JP" sz="2400" dirty="0">
              <a:latin typeface="+mj-ea"/>
              <a:ea typeface="+mj-ea"/>
            </a:endParaRPr>
          </a:p>
          <a:p>
            <a:pPr algn="ctr"/>
            <a:r>
              <a:rPr kumimoji="1" lang="ja-JP" altLang="en-US" sz="2400" dirty="0">
                <a:latin typeface="+mj-ea"/>
                <a:ea typeface="+mj-ea"/>
              </a:rPr>
              <a:t>↓</a:t>
            </a:r>
            <a:endParaRPr kumimoji="1" lang="en-US" altLang="ja-JP" sz="2400" dirty="0">
              <a:latin typeface="+mj-ea"/>
              <a:ea typeface="+mj-ea"/>
            </a:endParaRPr>
          </a:p>
          <a:p>
            <a:pPr algn="ctr"/>
            <a:r>
              <a:rPr kumimoji="1" lang="ja-JP" altLang="en-US" sz="2400" dirty="0">
                <a:latin typeface="+mj-ea"/>
                <a:ea typeface="+mj-ea"/>
              </a:rPr>
              <a:t>お客さまに近い位置で課題解決</a:t>
            </a:r>
          </a:p>
        </p:txBody>
      </p:sp>
      <p:sp>
        <p:nvSpPr>
          <p:cNvPr id="15" name="四角形: 角を丸くする 14">
            <a:extLst>
              <a:ext uri="{FF2B5EF4-FFF2-40B4-BE49-F238E27FC236}">
                <a16:creationId xmlns:a16="http://schemas.microsoft.com/office/drawing/2014/main" id="{0A943B8F-8AF1-D5E7-0AA1-357E0FB2FF3B}"/>
              </a:ext>
            </a:extLst>
          </p:cNvPr>
          <p:cNvSpPr/>
          <p:nvPr/>
        </p:nvSpPr>
        <p:spPr>
          <a:xfrm>
            <a:off x="6573354" y="1530880"/>
            <a:ext cx="4505739" cy="152400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latin typeface="+mj-ea"/>
                <a:ea typeface="+mj-ea"/>
              </a:rPr>
              <a:t>『</a:t>
            </a:r>
            <a:r>
              <a:rPr lang="ja-JP" altLang="en-US" sz="2400" dirty="0">
                <a:latin typeface="+mj-ea"/>
                <a:ea typeface="+mj-ea"/>
              </a:rPr>
              <a:t>勇翔</a:t>
            </a:r>
            <a:r>
              <a:rPr lang="en-US" altLang="ja-JP" sz="2400" dirty="0">
                <a:latin typeface="+mj-ea"/>
                <a:ea typeface="+mj-ea"/>
              </a:rPr>
              <a:t>2034』</a:t>
            </a:r>
            <a:endParaRPr kumimoji="1" lang="en-US" altLang="ja-JP" sz="2400" dirty="0">
              <a:latin typeface="+mj-ea"/>
              <a:ea typeface="+mj-ea"/>
            </a:endParaRPr>
          </a:p>
          <a:p>
            <a:pPr algn="ctr"/>
            <a:r>
              <a:rPr kumimoji="1" lang="ja-JP" altLang="en-US" sz="2400" dirty="0">
                <a:latin typeface="+mj-ea"/>
                <a:ea typeface="+mj-ea"/>
              </a:rPr>
              <a:t>↓</a:t>
            </a:r>
            <a:endParaRPr kumimoji="1" lang="en-US" altLang="ja-JP" sz="2400" dirty="0">
              <a:latin typeface="+mj-ea"/>
              <a:ea typeface="+mj-ea"/>
            </a:endParaRPr>
          </a:p>
          <a:p>
            <a:pPr algn="ctr"/>
            <a:r>
              <a:rPr kumimoji="1" lang="ja-JP" altLang="en-US" sz="2400" dirty="0">
                <a:latin typeface="+mj-ea"/>
                <a:ea typeface="+mj-ea"/>
              </a:rPr>
              <a:t>お客さまに安心と感動を届ける</a:t>
            </a:r>
          </a:p>
        </p:txBody>
      </p:sp>
    </p:spTree>
    <p:extLst>
      <p:ext uri="{BB962C8B-B14F-4D97-AF65-F5344CB8AC3E}">
        <p14:creationId xmlns:p14="http://schemas.microsoft.com/office/powerpoint/2010/main" val="845333093"/>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859F-724A-A8FE-33B8-ECDC774F92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F4C76C2-C8E1-C23E-43A9-159307A17643}"/>
              </a:ext>
            </a:extLst>
          </p:cNvPr>
          <p:cNvSpPr/>
          <p:nvPr/>
        </p:nvSpPr>
        <p:spPr>
          <a:xfrm>
            <a:off x="0" y="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課題</a:t>
            </a:r>
            <a:endParaRPr lang="en-US" sz="3200" dirty="0">
              <a:ea typeface="ＭＳ Ｐゴシック"/>
            </a:endParaRPr>
          </a:p>
        </p:txBody>
      </p:sp>
      <p:sp>
        <p:nvSpPr>
          <p:cNvPr id="5" name="Rectangle 4">
            <a:extLst>
              <a:ext uri="{FF2B5EF4-FFF2-40B4-BE49-F238E27FC236}">
                <a16:creationId xmlns:a16="http://schemas.microsoft.com/office/drawing/2014/main" id="{6D5A4DAD-6360-6CC2-7408-2B1835D5330B}"/>
              </a:ext>
            </a:extLst>
          </p:cNvPr>
          <p:cNvSpPr/>
          <p:nvPr/>
        </p:nvSpPr>
        <p:spPr>
          <a:xfrm>
            <a:off x="0" y="925846"/>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4FBEB321-A013-4291-86BE-47A5396B2058}"/>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3</a:t>
            </a:fld>
            <a:endParaRPr kumimoji="1" lang="ja-JP" altLang="en-US"/>
          </a:p>
        </p:txBody>
      </p:sp>
      <p:sp>
        <p:nvSpPr>
          <p:cNvPr id="7" name="コンテンツ プレースホルダー 6">
            <a:extLst>
              <a:ext uri="{FF2B5EF4-FFF2-40B4-BE49-F238E27FC236}">
                <a16:creationId xmlns:a16="http://schemas.microsoft.com/office/drawing/2014/main" id="{F0A24BF9-477B-CFFB-178D-40B824DEB142}"/>
              </a:ext>
            </a:extLst>
          </p:cNvPr>
          <p:cNvSpPr>
            <a:spLocks noGrp="1"/>
          </p:cNvSpPr>
          <p:nvPr>
            <p:ph idx="1"/>
          </p:nvPr>
        </p:nvSpPr>
        <p:spPr>
          <a:xfrm>
            <a:off x="838200" y="1290528"/>
            <a:ext cx="10515600" cy="5463799"/>
          </a:xfrm>
        </p:spPr>
        <p:txBody>
          <a:bodyPr>
            <a:normAutofit fontScale="92500" lnSpcReduction="10000"/>
          </a:bodyPr>
          <a:lstStyle/>
          <a:p>
            <a:pPr marL="0" indent="0">
              <a:buNone/>
            </a:pPr>
            <a:r>
              <a:rPr lang="ja-JP" altLang="en-US" dirty="0"/>
              <a:t>一方、、、</a:t>
            </a:r>
            <a:endParaRPr lang="en-US" altLang="ja-JP" dirty="0"/>
          </a:p>
          <a:p>
            <a:pPr marL="0" indent="0">
              <a:buNone/>
            </a:pPr>
            <a:r>
              <a:rPr lang="ja-JP" altLang="en-US" dirty="0">
                <a:ea typeface="ＭＳ Ｐゴシック"/>
              </a:rPr>
              <a:t>指令の運用整理を車両センター（当時）が断る事象発生</a:t>
            </a:r>
            <a:endParaRPr lang="en-US" altLang="ja-JP" dirty="0">
              <a:ea typeface="ＭＳ Ｐゴシック"/>
            </a:endParaRPr>
          </a:p>
          <a:p>
            <a:pPr marL="0" indent="0">
              <a:buNone/>
            </a:pPr>
            <a:r>
              <a:rPr lang="ja-JP" altLang="en-US" dirty="0">
                <a:ea typeface="ＭＳ Ｐゴシック"/>
              </a:rPr>
              <a:t>（</a:t>
            </a:r>
            <a:r>
              <a:rPr lang="en-US" altLang="ja-JP" dirty="0">
                <a:ea typeface="ＭＳ Ｐゴシック"/>
              </a:rPr>
              <a:t>2025</a:t>
            </a:r>
            <a:r>
              <a:rPr lang="ja-JP" altLang="en-US" dirty="0">
                <a:ea typeface="ＭＳ Ｐゴシック"/>
              </a:rPr>
              <a:t>年</a:t>
            </a:r>
            <a:r>
              <a:rPr lang="en-US" altLang="ja-JP" dirty="0">
                <a:ea typeface="ＭＳ Ｐゴシック"/>
              </a:rPr>
              <a:t>11</a:t>
            </a:r>
            <a:r>
              <a:rPr lang="ja-JP" altLang="en-US" dirty="0">
                <a:ea typeface="ＭＳ Ｐゴシック"/>
              </a:rPr>
              <a:t>月７日、</a:t>
            </a:r>
            <a:r>
              <a:rPr lang="en-US" altLang="ja-JP" dirty="0">
                <a:ea typeface="ＭＳ Ｐゴシック"/>
              </a:rPr>
              <a:t>15</a:t>
            </a:r>
            <a:r>
              <a:rPr lang="ja-JP" altLang="en-US" dirty="0">
                <a:ea typeface="ＭＳ Ｐゴシック"/>
              </a:rPr>
              <a:t>日）</a:t>
            </a:r>
            <a:endParaRPr lang="en-US" altLang="ja-JP" dirty="0">
              <a:ea typeface="ＭＳ Ｐゴシック"/>
            </a:endParaRPr>
          </a:p>
          <a:p>
            <a:pPr marL="0" indent="0">
              <a:buNone/>
            </a:pPr>
            <a:endParaRPr lang="en-US" altLang="ja-JP" dirty="0">
              <a:ea typeface="ＭＳ Ｐゴシック"/>
            </a:endParaRPr>
          </a:p>
          <a:p>
            <a:pPr marL="0" indent="0">
              <a:buNone/>
            </a:pPr>
            <a:r>
              <a:rPr lang="en-US" altLang="ja-JP" sz="2200" dirty="0">
                <a:ea typeface="ＭＳ Ｐゴシック"/>
              </a:rPr>
              <a:t>【2025</a:t>
            </a:r>
            <a:r>
              <a:rPr lang="ja-JP" altLang="en-US" sz="2200" dirty="0">
                <a:ea typeface="ＭＳ Ｐゴシック"/>
              </a:rPr>
              <a:t>年</a:t>
            </a:r>
            <a:r>
              <a:rPr lang="en-US" altLang="ja-JP" sz="2200" dirty="0">
                <a:ea typeface="ＭＳ Ｐゴシック"/>
              </a:rPr>
              <a:t>11</a:t>
            </a:r>
            <a:r>
              <a:rPr lang="ja-JP" altLang="en-US" sz="2200" dirty="0">
                <a:ea typeface="ＭＳ Ｐゴシック"/>
              </a:rPr>
              <a:t>月</a:t>
            </a:r>
            <a:r>
              <a:rPr lang="en-US" altLang="ja-JP" sz="2200" dirty="0">
                <a:ea typeface="ＭＳ Ｐゴシック"/>
              </a:rPr>
              <a:t>7</a:t>
            </a:r>
            <a:r>
              <a:rPr lang="ja-JP" altLang="en-US" sz="2200" dirty="0">
                <a:ea typeface="ＭＳ Ｐゴシック"/>
              </a:rPr>
              <a:t>日概況</a:t>
            </a:r>
            <a:r>
              <a:rPr lang="en-US" altLang="ja-JP" sz="2200" dirty="0">
                <a:ea typeface="ＭＳ Ｐゴシック"/>
              </a:rPr>
              <a:t>】</a:t>
            </a:r>
          </a:p>
          <a:p>
            <a:pPr marL="0" indent="0">
              <a:buNone/>
            </a:pPr>
            <a:r>
              <a:rPr lang="en-US" altLang="ja-JP" sz="2200" dirty="0">
                <a:ea typeface="ＭＳ Ｐゴシック"/>
              </a:rPr>
              <a:t>21</a:t>
            </a:r>
            <a:r>
              <a:rPr lang="ja-JP" altLang="en-US" sz="2200" dirty="0">
                <a:ea typeface="ＭＳ Ｐゴシック"/>
              </a:rPr>
              <a:t>時</a:t>
            </a:r>
            <a:r>
              <a:rPr lang="en-US" altLang="ja-JP" sz="2200" dirty="0">
                <a:ea typeface="ＭＳ Ｐゴシック"/>
              </a:rPr>
              <a:t>10</a:t>
            </a:r>
            <a:r>
              <a:rPr lang="ja-JP" altLang="en-US" sz="2200" dirty="0">
                <a:ea typeface="ＭＳ Ｐゴシック"/>
              </a:rPr>
              <a:t>分</a:t>
            </a:r>
            <a:endParaRPr lang="en-US" altLang="ja-JP" sz="2200" dirty="0">
              <a:ea typeface="ＭＳ Ｐゴシック"/>
            </a:endParaRPr>
          </a:p>
          <a:p>
            <a:pPr marL="0" indent="0">
              <a:buNone/>
            </a:pPr>
            <a:r>
              <a:rPr lang="ja-JP" altLang="en-US" sz="2200" dirty="0">
                <a:ea typeface="ＭＳ Ｐゴシック"/>
              </a:rPr>
              <a:t>・中央線新宿駅での人身事故発生</a:t>
            </a:r>
            <a:endParaRPr lang="en-US" altLang="ja-JP" sz="2200" dirty="0">
              <a:ea typeface="ＭＳ Ｐゴシック"/>
            </a:endParaRPr>
          </a:p>
          <a:p>
            <a:pPr marL="0" indent="0">
              <a:buNone/>
            </a:pPr>
            <a:r>
              <a:rPr lang="ja-JP" altLang="en-US" sz="2200" dirty="0">
                <a:ea typeface="ＭＳ Ｐゴシック"/>
              </a:rPr>
              <a:t>・</a:t>
            </a:r>
            <a:r>
              <a:rPr lang="en-US" altLang="ja-JP" sz="2200" dirty="0">
                <a:ea typeface="ＭＳ Ｐゴシック"/>
              </a:rPr>
              <a:t>20~25</a:t>
            </a:r>
            <a:r>
              <a:rPr lang="ja-JP" altLang="en-US" sz="2200" dirty="0">
                <a:ea typeface="ＭＳ Ｐゴシック"/>
              </a:rPr>
              <a:t>分の遅延が発生したため指令が運転整理を打診</a:t>
            </a:r>
            <a:endParaRPr lang="en-US" altLang="ja-JP" sz="2200" dirty="0">
              <a:ea typeface="ＭＳ Ｐゴシック"/>
            </a:endParaRPr>
          </a:p>
          <a:p>
            <a:pPr marL="0" indent="0">
              <a:buNone/>
            </a:pPr>
            <a:r>
              <a:rPr lang="en-US" altLang="ja-JP" sz="2200" dirty="0">
                <a:ea typeface="ＭＳ Ｐゴシック"/>
              </a:rPr>
              <a:t>22</a:t>
            </a:r>
            <a:r>
              <a:rPr lang="ja-JP" altLang="en-US" sz="2200" dirty="0">
                <a:ea typeface="ＭＳ Ｐゴシック"/>
              </a:rPr>
              <a:t>時</a:t>
            </a:r>
            <a:r>
              <a:rPr lang="en-US" altLang="ja-JP" sz="2200" dirty="0">
                <a:ea typeface="ＭＳ Ｐゴシック"/>
              </a:rPr>
              <a:t>10</a:t>
            </a:r>
            <a:r>
              <a:rPr lang="ja-JP" altLang="en-US" sz="2200" dirty="0">
                <a:ea typeface="ＭＳ Ｐゴシック"/>
              </a:rPr>
              <a:t>分</a:t>
            </a:r>
            <a:endParaRPr lang="en-US" altLang="ja-JP" sz="2200" dirty="0">
              <a:ea typeface="ＭＳ Ｐゴシック"/>
            </a:endParaRPr>
          </a:p>
          <a:p>
            <a:pPr marL="0" indent="0">
              <a:buNone/>
            </a:pPr>
            <a:r>
              <a:rPr lang="ja-JP" altLang="en-US" sz="2200" dirty="0">
                <a:ea typeface="ＭＳ Ｐゴシック"/>
              </a:rPr>
              <a:t>・運転整理を計画するも豊田車両から「廻さないでほしい」と要請</a:t>
            </a:r>
            <a:endParaRPr lang="en-US" altLang="ja-JP" sz="2200" dirty="0">
              <a:ea typeface="ＭＳ Ｐゴシック"/>
            </a:endParaRPr>
          </a:p>
          <a:p>
            <a:pPr marL="0" indent="0">
              <a:buNone/>
            </a:pPr>
            <a:r>
              <a:rPr lang="en-US" altLang="ja-JP" sz="2200" dirty="0">
                <a:ea typeface="ＭＳ Ｐゴシック"/>
              </a:rPr>
              <a:t>※</a:t>
            </a:r>
            <a:r>
              <a:rPr lang="ja-JP" altLang="en-US" sz="2200" dirty="0">
                <a:ea typeface="ＭＳ Ｐゴシック"/>
              </a:rPr>
              <a:t>車両運用が追い付かないという理由</a:t>
            </a:r>
            <a:endParaRPr lang="en-US" altLang="ja-JP" sz="2200" dirty="0">
              <a:ea typeface="ＭＳ Ｐゴシック"/>
            </a:endParaRPr>
          </a:p>
          <a:p>
            <a:pPr marL="0" indent="0">
              <a:buNone/>
            </a:pPr>
            <a:r>
              <a:rPr lang="ja-JP" altLang="en-US" sz="2200" dirty="0">
                <a:ea typeface="ＭＳ Ｐゴシック"/>
              </a:rPr>
              <a:t>運転整理ができなかった結果、、、</a:t>
            </a:r>
            <a:endParaRPr lang="en-US" altLang="ja-JP" sz="2200" dirty="0">
              <a:ea typeface="ＭＳ Ｐゴシック"/>
            </a:endParaRPr>
          </a:p>
          <a:p>
            <a:pPr marL="0" indent="0">
              <a:buNone/>
            </a:pPr>
            <a:r>
              <a:rPr lang="en-US" altLang="ja-JP" sz="2200" dirty="0">
                <a:ea typeface="ＭＳ Ｐゴシック"/>
              </a:rPr>
              <a:t>SCORE</a:t>
            </a:r>
            <a:r>
              <a:rPr lang="ja-JP" altLang="en-US" sz="2200" dirty="0">
                <a:ea typeface="ＭＳ Ｐゴシック"/>
              </a:rPr>
              <a:t>：</a:t>
            </a:r>
            <a:r>
              <a:rPr lang="en-US" altLang="ja-JP" sz="2200" dirty="0">
                <a:ea typeface="ＭＳ Ｐゴシック"/>
              </a:rPr>
              <a:t>6.3</a:t>
            </a:r>
            <a:r>
              <a:rPr lang="ja-JP" altLang="en-US" sz="2200" dirty="0">
                <a:ea typeface="ＭＳ Ｐゴシック"/>
              </a:rPr>
              <a:t>（</a:t>
            </a:r>
            <a:r>
              <a:rPr lang="en-US" altLang="ja-JP" sz="2200" dirty="0">
                <a:ea typeface="ＭＳ Ｐゴシック"/>
              </a:rPr>
              <a:t>5</a:t>
            </a:r>
            <a:r>
              <a:rPr lang="ja-JP" altLang="en-US" sz="2200" dirty="0">
                <a:ea typeface="ＭＳ Ｐゴシック"/>
              </a:rPr>
              <a:t>万人以上のお客さまに影響）</a:t>
            </a:r>
            <a:endParaRPr lang="en-US" altLang="ja-JP" dirty="0">
              <a:ea typeface="ＭＳ Ｐゴシック"/>
            </a:endParaRPr>
          </a:p>
          <a:p>
            <a:pPr marL="0" indent="0">
              <a:buNone/>
            </a:pPr>
            <a:endParaRPr lang="en-US" altLang="ja-JP" dirty="0">
              <a:ea typeface="ＭＳ Ｐゴシック"/>
            </a:endParaRPr>
          </a:p>
          <a:p>
            <a:pPr marL="0" indent="0">
              <a:buNone/>
            </a:pPr>
            <a:endParaRPr lang="en-US" altLang="ja-JP" dirty="0">
              <a:ea typeface="ＭＳ Ｐゴシック"/>
            </a:endParaRPr>
          </a:p>
          <a:p>
            <a:pPr marL="0" indent="0">
              <a:buNone/>
            </a:pPr>
            <a:endParaRPr lang="ja-JP" altLang="en-US" dirty="0">
              <a:ea typeface="ＭＳ Ｐゴシック"/>
            </a:endParaRPr>
          </a:p>
          <a:p>
            <a:pPr marL="0" indent="0">
              <a:buNone/>
            </a:pPr>
            <a:endParaRPr lang="ja-JP" altLang="en-US" dirty="0"/>
          </a:p>
        </p:txBody>
      </p:sp>
    </p:spTree>
    <p:extLst>
      <p:ext uri="{BB962C8B-B14F-4D97-AF65-F5344CB8AC3E}">
        <p14:creationId xmlns:p14="http://schemas.microsoft.com/office/powerpoint/2010/main" val="2844586897"/>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9467-A545-2E15-7A6B-5CD1FA3238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B3A591-D761-DCEE-F42C-5ED84FCDC678}"/>
              </a:ext>
            </a:extLst>
          </p:cNvPr>
          <p:cNvSpPr>
            <a:spLocks noGrp="1"/>
          </p:cNvSpPr>
          <p:nvPr>
            <p:ph idx="1"/>
          </p:nvPr>
        </p:nvSpPr>
        <p:spPr>
          <a:xfrm>
            <a:off x="894522" y="2238115"/>
            <a:ext cx="10515600" cy="4351338"/>
          </a:xfrm>
        </p:spPr>
        <p:txBody>
          <a:bodyPr vert="horz" lIns="91440" tIns="45720" rIns="91440" bIns="45720" rtlCol="0" anchor="t">
            <a:normAutofit/>
          </a:bodyPr>
          <a:lstStyle/>
          <a:p>
            <a:r>
              <a:rPr lang="ja-JP" altLang="ja-JP" dirty="0"/>
              <a:t>実際、指令と車セで立場が違う</a:t>
            </a:r>
          </a:p>
          <a:p>
            <a:r>
              <a:rPr lang="ja-JP" altLang="ja-JP" dirty="0"/>
              <a:t>＝車セの事情：保全の期限・出区の時間</a:t>
            </a:r>
            <a:r>
              <a:rPr lang="ja-JP" altLang="en-US" dirty="0"/>
              <a:t>を</a:t>
            </a:r>
            <a:r>
              <a:rPr lang="ja-JP" altLang="ja-JP" dirty="0"/>
              <a:t>守るために</a:t>
            </a:r>
            <a:r>
              <a:rPr lang="ja-JP" altLang="en-US" dirty="0"/>
              <a:t>多くの業務、時間を要している</a:t>
            </a:r>
            <a:endParaRPr lang="en-US" altLang="ja-JP" dirty="0"/>
          </a:p>
          <a:p>
            <a:endParaRPr lang="ja-JP" altLang="ja-JP" dirty="0"/>
          </a:p>
          <a:p>
            <a:pPr marL="0" indent="0">
              <a:buNone/>
            </a:pPr>
            <a:endParaRPr lang="ja-JP" altLang="ja-JP" dirty="0"/>
          </a:p>
        </p:txBody>
      </p:sp>
      <p:sp>
        <p:nvSpPr>
          <p:cNvPr id="4" name="Rectangle 3">
            <a:extLst>
              <a:ext uri="{FF2B5EF4-FFF2-40B4-BE49-F238E27FC236}">
                <a16:creationId xmlns:a16="http://schemas.microsoft.com/office/drawing/2014/main" id="{CAFE823F-F2FE-8F42-2EAF-CB19E0B48BF5}"/>
              </a:ext>
            </a:extLst>
          </p:cNvPr>
          <p:cNvSpPr/>
          <p:nvPr/>
        </p:nvSpPr>
        <p:spPr>
          <a:xfrm>
            <a:off x="0" y="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現状</a:t>
            </a:r>
            <a:endParaRPr lang="en-US" sz="3200" dirty="0">
              <a:ea typeface="ＭＳ Ｐゴシック"/>
            </a:endParaRPr>
          </a:p>
        </p:txBody>
      </p:sp>
      <p:sp>
        <p:nvSpPr>
          <p:cNvPr id="5" name="Rectangle 4">
            <a:extLst>
              <a:ext uri="{FF2B5EF4-FFF2-40B4-BE49-F238E27FC236}">
                <a16:creationId xmlns:a16="http://schemas.microsoft.com/office/drawing/2014/main" id="{98212235-7BF7-5C01-73CA-A73D4407124B}"/>
              </a:ext>
            </a:extLst>
          </p:cNvPr>
          <p:cNvSpPr/>
          <p:nvPr/>
        </p:nvSpPr>
        <p:spPr>
          <a:xfrm>
            <a:off x="0" y="925846"/>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7CFBEC5-24D3-8B4C-7358-A4A1A5DD0916}"/>
              </a:ext>
            </a:extLst>
          </p:cNvPr>
          <p:cNvSpPr/>
          <p:nvPr/>
        </p:nvSpPr>
        <p:spPr>
          <a:xfrm>
            <a:off x="763603" y="5857912"/>
            <a:ext cx="10515600" cy="868031"/>
          </a:xfrm>
          <a:prstGeom prst="rect">
            <a:avLst/>
          </a:prstGeom>
          <a:solidFill>
            <a:schemeClr val="accent2">
              <a:lumMod val="20000"/>
              <a:lumOff val="80000"/>
            </a:schemeClr>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800" dirty="0">
              <a:solidFill>
                <a:schemeClr val="tx1"/>
              </a:solidFill>
              <a:ea typeface="ＭＳ Ｐゴシック"/>
            </a:endParaRPr>
          </a:p>
        </p:txBody>
      </p:sp>
      <p:sp>
        <p:nvSpPr>
          <p:cNvPr id="11" name="スライド番号プレースホルダー 10">
            <a:extLst>
              <a:ext uri="{FF2B5EF4-FFF2-40B4-BE49-F238E27FC236}">
                <a16:creationId xmlns:a16="http://schemas.microsoft.com/office/drawing/2014/main" id="{583750C0-A0F6-F062-C220-ADDFB2BDD0EC}"/>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4</a:t>
            </a:fld>
            <a:endParaRPr kumimoji="1" lang="ja-JP" altLang="en-US"/>
          </a:p>
        </p:txBody>
      </p:sp>
    </p:spTree>
    <p:extLst>
      <p:ext uri="{BB962C8B-B14F-4D97-AF65-F5344CB8AC3E}">
        <p14:creationId xmlns:p14="http://schemas.microsoft.com/office/powerpoint/2010/main" val="575965288"/>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54FEA-D778-6F47-0926-196C7A5F6F3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D8C17A-2E37-F8EA-ACCC-F1317E1C3385}"/>
              </a:ext>
            </a:extLst>
          </p:cNvPr>
          <p:cNvSpPr/>
          <p:nvPr/>
        </p:nvSpPr>
        <p:spPr>
          <a:xfrm>
            <a:off x="6113" y="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列車が乱れた際の運用に関わる業務フロー</a:t>
            </a:r>
            <a:endParaRPr lang="en-US" sz="3200" dirty="0">
              <a:ea typeface="ＭＳ Ｐゴシック"/>
            </a:endParaRPr>
          </a:p>
        </p:txBody>
      </p:sp>
      <p:sp>
        <p:nvSpPr>
          <p:cNvPr id="5" name="Rectangle 4">
            <a:extLst>
              <a:ext uri="{FF2B5EF4-FFF2-40B4-BE49-F238E27FC236}">
                <a16:creationId xmlns:a16="http://schemas.microsoft.com/office/drawing/2014/main" id="{DDFA2D7E-577E-B893-6C60-F08729538A2D}"/>
              </a:ext>
            </a:extLst>
          </p:cNvPr>
          <p:cNvSpPr/>
          <p:nvPr/>
        </p:nvSpPr>
        <p:spPr>
          <a:xfrm>
            <a:off x="6113" y="943061"/>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78E5C71C-285F-2BA4-1480-DADCA48954CD}"/>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5</a:t>
            </a:fld>
            <a:endParaRPr kumimoji="1" lang="ja-JP" altLang="en-US"/>
          </a:p>
        </p:txBody>
      </p:sp>
      <p:sp>
        <p:nvSpPr>
          <p:cNvPr id="7" name="矢印: 右 6">
            <a:extLst>
              <a:ext uri="{FF2B5EF4-FFF2-40B4-BE49-F238E27FC236}">
                <a16:creationId xmlns:a16="http://schemas.microsoft.com/office/drawing/2014/main" id="{F9BE237B-3907-945F-0ACA-23B986049FF3}"/>
              </a:ext>
            </a:extLst>
          </p:cNvPr>
          <p:cNvSpPr/>
          <p:nvPr/>
        </p:nvSpPr>
        <p:spPr>
          <a:xfrm>
            <a:off x="851947" y="1387571"/>
            <a:ext cx="10349948" cy="868031"/>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7CCCFA00-774E-CE8E-D963-D3BE77EBA835}"/>
              </a:ext>
            </a:extLst>
          </p:cNvPr>
          <p:cNvSpPr/>
          <p:nvPr/>
        </p:nvSpPr>
        <p:spPr>
          <a:xfrm>
            <a:off x="119749" y="1585782"/>
            <a:ext cx="2531165" cy="45592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列車乱れ発生</a:t>
            </a:r>
          </a:p>
        </p:txBody>
      </p:sp>
      <p:sp>
        <p:nvSpPr>
          <p:cNvPr id="13" name="四角形: 角を丸くする 12">
            <a:extLst>
              <a:ext uri="{FF2B5EF4-FFF2-40B4-BE49-F238E27FC236}">
                <a16:creationId xmlns:a16="http://schemas.microsoft.com/office/drawing/2014/main" id="{1739479A-471D-AEED-7B1A-5BEA3B541E93}"/>
              </a:ext>
            </a:extLst>
          </p:cNvPr>
          <p:cNvSpPr/>
          <p:nvPr/>
        </p:nvSpPr>
        <p:spPr>
          <a:xfrm>
            <a:off x="-3377647" y="1497176"/>
            <a:ext cx="2531165" cy="86803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t>運転整理</a:t>
            </a:r>
            <a:endParaRPr kumimoji="1" lang="ja-JP" altLang="en-US" sz="2400" dirty="0"/>
          </a:p>
        </p:txBody>
      </p:sp>
      <p:sp>
        <p:nvSpPr>
          <p:cNvPr id="14" name="四角形: 角を丸くする 13">
            <a:extLst>
              <a:ext uri="{FF2B5EF4-FFF2-40B4-BE49-F238E27FC236}">
                <a16:creationId xmlns:a16="http://schemas.microsoft.com/office/drawing/2014/main" id="{988423D5-1AD8-7649-DB8F-DE2867D15AA6}"/>
              </a:ext>
            </a:extLst>
          </p:cNvPr>
          <p:cNvSpPr/>
          <p:nvPr/>
        </p:nvSpPr>
        <p:spPr>
          <a:xfrm>
            <a:off x="1056848" y="2869382"/>
            <a:ext cx="3038602" cy="1420529"/>
          </a:xfrm>
          <a:prstGeom prst="roundRect">
            <a:avLst/>
          </a:prstGeom>
          <a:no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・各編成の在線位置把握</a:t>
            </a:r>
            <a:endParaRPr kumimoji="1" lang="en-US" altLang="ja-JP" sz="2000" dirty="0">
              <a:solidFill>
                <a:schemeClr val="tx1"/>
              </a:solidFill>
            </a:endParaRPr>
          </a:p>
          <a:p>
            <a:pPr algn="ctr"/>
            <a:r>
              <a:rPr kumimoji="1" lang="ja-JP" altLang="en-US" sz="2000" dirty="0">
                <a:solidFill>
                  <a:schemeClr val="tx1"/>
                </a:solidFill>
              </a:rPr>
              <a:t>・運転整理を追い編成の留置場所を把握</a:t>
            </a:r>
            <a:endParaRPr kumimoji="1" lang="en-US" altLang="ja-JP" sz="2000" dirty="0">
              <a:solidFill>
                <a:schemeClr val="tx1"/>
              </a:solidFill>
            </a:endParaRPr>
          </a:p>
          <a:p>
            <a:pPr algn="ctr"/>
            <a:r>
              <a:rPr kumimoji="1" lang="ja-JP" altLang="en-US" sz="2000" dirty="0">
                <a:solidFill>
                  <a:schemeClr val="tx1"/>
                </a:solidFill>
              </a:rPr>
              <a:t>→検修・構内当直相互にチェック</a:t>
            </a:r>
          </a:p>
        </p:txBody>
      </p:sp>
      <p:sp>
        <p:nvSpPr>
          <p:cNvPr id="16" name="矢印: 右 15">
            <a:extLst>
              <a:ext uri="{FF2B5EF4-FFF2-40B4-BE49-F238E27FC236}">
                <a16:creationId xmlns:a16="http://schemas.microsoft.com/office/drawing/2014/main" id="{979607F8-EAD7-5A8A-DA10-E3FEEA6AD43B}"/>
              </a:ext>
            </a:extLst>
          </p:cNvPr>
          <p:cNvSpPr/>
          <p:nvPr/>
        </p:nvSpPr>
        <p:spPr>
          <a:xfrm>
            <a:off x="-2594939" y="497673"/>
            <a:ext cx="1616764" cy="868031"/>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指令から</a:t>
            </a:r>
            <a:r>
              <a:rPr kumimoji="1" lang="en-US" altLang="ja-JP" dirty="0"/>
              <a:t>FAX</a:t>
            </a:r>
            <a:endParaRPr kumimoji="1" lang="ja-JP" altLang="en-US" dirty="0"/>
          </a:p>
        </p:txBody>
      </p:sp>
      <p:sp>
        <p:nvSpPr>
          <p:cNvPr id="17" name="四角形: 角を丸くする 16">
            <a:extLst>
              <a:ext uri="{FF2B5EF4-FFF2-40B4-BE49-F238E27FC236}">
                <a16:creationId xmlns:a16="http://schemas.microsoft.com/office/drawing/2014/main" id="{6C37C2B6-1A3A-35F1-9E3B-595F7705592D}"/>
              </a:ext>
            </a:extLst>
          </p:cNvPr>
          <p:cNvSpPr/>
          <p:nvPr/>
        </p:nvSpPr>
        <p:spPr>
          <a:xfrm>
            <a:off x="-3670852" y="2731598"/>
            <a:ext cx="2531165" cy="86803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運用変更</a:t>
            </a:r>
          </a:p>
        </p:txBody>
      </p:sp>
      <p:sp>
        <p:nvSpPr>
          <p:cNvPr id="19" name="四角形: 角を丸くする 18">
            <a:extLst>
              <a:ext uri="{FF2B5EF4-FFF2-40B4-BE49-F238E27FC236}">
                <a16:creationId xmlns:a16="http://schemas.microsoft.com/office/drawing/2014/main" id="{33EB411C-C8C6-AAD3-C1CB-E5E94A1C69E3}"/>
              </a:ext>
            </a:extLst>
          </p:cNvPr>
          <p:cNvSpPr/>
          <p:nvPr/>
        </p:nvSpPr>
        <p:spPr>
          <a:xfrm>
            <a:off x="1137324" y="2152977"/>
            <a:ext cx="2862580" cy="562875"/>
          </a:xfrm>
          <a:prstGeom prst="roundRect">
            <a:avLst/>
          </a:prstGeom>
          <a:noFill/>
          <a:ln w="762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運転整理実施</a:t>
            </a:r>
            <a:endParaRPr lang="en-US" altLang="ja-JP" sz="2000" dirty="0">
              <a:solidFill>
                <a:schemeClr val="tx1"/>
              </a:solidFill>
            </a:endParaRPr>
          </a:p>
        </p:txBody>
      </p:sp>
      <p:sp>
        <p:nvSpPr>
          <p:cNvPr id="20" name="四角形: 角を丸くする 19">
            <a:extLst>
              <a:ext uri="{FF2B5EF4-FFF2-40B4-BE49-F238E27FC236}">
                <a16:creationId xmlns:a16="http://schemas.microsoft.com/office/drawing/2014/main" id="{335F083A-1093-2190-C652-F85AB5AC15A6}"/>
              </a:ext>
            </a:extLst>
          </p:cNvPr>
          <p:cNvSpPr/>
          <p:nvPr/>
        </p:nvSpPr>
        <p:spPr>
          <a:xfrm>
            <a:off x="150076" y="2175645"/>
            <a:ext cx="715617" cy="444313"/>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指令</a:t>
            </a:r>
            <a:endParaRPr kumimoji="1" lang="ja-JP" altLang="en-US" dirty="0">
              <a:solidFill>
                <a:schemeClr val="tx1"/>
              </a:solidFill>
            </a:endParaRPr>
          </a:p>
        </p:txBody>
      </p:sp>
      <p:sp>
        <p:nvSpPr>
          <p:cNvPr id="22" name="四角形: 角を丸くする 21">
            <a:extLst>
              <a:ext uri="{FF2B5EF4-FFF2-40B4-BE49-F238E27FC236}">
                <a16:creationId xmlns:a16="http://schemas.microsoft.com/office/drawing/2014/main" id="{14657989-0E14-DFB2-E4B4-ED11C4CF867C}"/>
              </a:ext>
            </a:extLst>
          </p:cNvPr>
          <p:cNvSpPr/>
          <p:nvPr/>
        </p:nvSpPr>
        <p:spPr>
          <a:xfrm>
            <a:off x="149290" y="2979510"/>
            <a:ext cx="715617" cy="444313"/>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検修当直</a:t>
            </a:r>
          </a:p>
        </p:txBody>
      </p:sp>
      <p:sp>
        <p:nvSpPr>
          <p:cNvPr id="23" name="四角形: 角を丸くする 22">
            <a:extLst>
              <a:ext uri="{FF2B5EF4-FFF2-40B4-BE49-F238E27FC236}">
                <a16:creationId xmlns:a16="http://schemas.microsoft.com/office/drawing/2014/main" id="{25BA3D2B-177E-48C1-6ACD-D4A7A8032D6C}"/>
              </a:ext>
            </a:extLst>
          </p:cNvPr>
          <p:cNvSpPr/>
          <p:nvPr/>
        </p:nvSpPr>
        <p:spPr>
          <a:xfrm>
            <a:off x="136329" y="3867100"/>
            <a:ext cx="715617" cy="444313"/>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構内当直</a:t>
            </a:r>
          </a:p>
        </p:txBody>
      </p:sp>
      <p:sp>
        <p:nvSpPr>
          <p:cNvPr id="24" name="四角形: 角を丸くする 23">
            <a:extLst>
              <a:ext uri="{FF2B5EF4-FFF2-40B4-BE49-F238E27FC236}">
                <a16:creationId xmlns:a16="http://schemas.microsoft.com/office/drawing/2014/main" id="{E58FA704-8381-D212-387C-0F8E78FC7237}"/>
              </a:ext>
            </a:extLst>
          </p:cNvPr>
          <p:cNvSpPr/>
          <p:nvPr/>
        </p:nvSpPr>
        <p:spPr>
          <a:xfrm>
            <a:off x="150076" y="4981732"/>
            <a:ext cx="715617" cy="444313"/>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JETS</a:t>
            </a:r>
            <a:endParaRPr kumimoji="1" lang="ja-JP" altLang="en-US" dirty="0">
              <a:solidFill>
                <a:schemeClr val="tx1"/>
              </a:solidFill>
            </a:endParaRPr>
          </a:p>
        </p:txBody>
      </p:sp>
      <p:sp>
        <p:nvSpPr>
          <p:cNvPr id="25" name="四角形: 角を丸くする 24">
            <a:extLst>
              <a:ext uri="{FF2B5EF4-FFF2-40B4-BE49-F238E27FC236}">
                <a16:creationId xmlns:a16="http://schemas.microsoft.com/office/drawing/2014/main" id="{717FC94E-81AF-EA97-B03E-BC12F289754E}"/>
              </a:ext>
            </a:extLst>
          </p:cNvPr>
          <p:cNvSpPr/>
          <p:nvPr/>
        </p:nvSpPr>
        <p:spPr>
          <a:xfrm>
            <a:off x="4209700" y="2881204"/>
            <a:ext cx="3634800" cy="586007"/>
          </a:xfrm>
          <a:prstGeom prst="roundRect">
            <a:avLst/>
          </a:prstGeom>
          <a:no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車両運用変更</a:t>
            </a:r>
            <a:endParaRPr kumimoji="1" lang="en-US" altLang="ja-JP" sz="2000" dirty="0">
              <a:solidFill>
                <a:schemeClr val="tx1"/>
              </a:solidFill>
            </a:endParaRPr>
          </a:p>
          <a:p>
            <a:pPr algn="ctr"/>
            <a:r>
              <a:rPr lang="ja-JP" altLang="en-US" sz="2000" dirty="0">
                <a:solidFill>
                  <a:schemeClr val="tx1"/>
                </a:solidFill>
              </a:rPr>
              <a:t>→検修当直自身のチェック</a:t>
            </a:r>
            <a:endParaRPr kumimoji="1" lang="en-US" altLang="ja-JP" sz="2000" dirty="0">
              <a:solidFill>
                <a:schemeClr val="tx1"/>
              </a:solidFill>
            </a:endParaRPr>
          </a:p>
        </p:txBody>
      </p:sp>
      <p:sp>
        <p:nvSpPr>
          <p:cNvPr id="26" name="四角形: 角を丸くする 25">
            <a:extLst>
              <a:ext uri="{FF2B5EF4-FFF2-40B4-BE49-F238E27FC236}">
                <a16:creationId xmlns:a16="http://schemas.microsoft.com/office/drawing/2014/main" id="{BA1846CE-6173-3261-7892-31F02A0998E7}"/>
              </a:ext>
            </a:extLst>
          </p:cNvPr>
          <p:cNvSpPr/>
          <p:nvPr/>
        </p:nvSpPr>
        <p:spPr>
          <a:xfrm>
            <a:off x="7495347" y="5105326"/>
            <a:ext cx="1006837" cy="868031"/>
          </a:xfrm>
          <a:prstGeom prst="roundRect">
            <a:avLst/>
          </a:prstGeom>
          <a:noFill/>
          <a:ln w="762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構内</a:t>
            </a:r>
            <a:endParaRPr lang="en-US" altLang="ja-JP" sz="2000" dirty="0">
              <a:solidFill>
                <a:schemeClr val="tx1"/>
              </a:solidFill>
            </a:endParaRPr>
          </a:p>
          <a:p>
            <a:pPr algn="ctr"/>
            <a:r>
              <a:rPr lang="ja-JP" altLang="en-US" sz="2000" dirty="0">
                <a:solidFill>
                  <a:schemeClr val="tx1"/>
                </a:solidFill>
              </a:rPr>
              <a:t>計画</a:t>
            </a:r>
            <a:endParaRPr lang="en-US" altLang="ja-JP" sz="2000" dirty="0">
              <a:solidFill>
                <a:schemeClr val="tx1"/>
              </a:solidFill>
            </a:endParaRPr>
          </a:p>
          <a:p>
            <a:pPr algn="ctr"/>
            <a:r>
              <a:rPr lang="ja-JP" altLang="en-US" sz="2000" dirty="0">
                <a:solidFill>
                  <a:schemeClr val="tx1"/>
                </a:solidFill>
              </a:rPr>
              <a:t>作成</a:t>
            </a:r>
            <a:endParaRPr kumimoji="1" lang="en-US" altLang="ja-JP" sz="2000" dirty="0">
              <a:solidFill>
                <a:schemeClr val="tx1"/>
              </a:solidFill>
            </a:endParaRPr>
          </a:p>
        </p:txBody>
      </p:sp>
      <p:sp>
        <p:nvSpPr>
          <p:cNvPr id="27" name="四角形: 角を丸くする 26">
            <a:extLst>
              <a:ext uri="{FF2B5EF4-FFF2-40B4-BE49-F238E27FC236}">
                <a16:creationId xmlns:a16="http://schemas.microsoft.com/office/drawing/2014/main" id="{8E931EA6-234D-F339-35FC-D1C57FA5A61A}"/>
              </a:ext>
            </a:extLst>
          </p:cNvPr>
          <p:cNvSpPr/>
          <p:nvPr/>
        </p:nvSpPr>
        <p:spPr>
          <a:xfrm>
            <a:off x="8949248" y="4224995"/>
            <a:ext cx="2335474" cy="586008"/>
          </a:xfrm>
          <a:prstGeom prst="roundRect">
            <a:avLst/>
          </a:prstGeom>
          <a:noFill/>
          <a:ln w="762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出区表作成</a:t>
            </a:r>
            <a:endParaRPr kumimoji="1" lang="en-US" altLang="ja-JP" sz="2000" dirty="0">
              <a:solidFill>
                <a:schemeClr val="tx1"/>
              </a:solidFill>
            </a:endParaRPr>
          </a:p>
          <a:p>
            <a:pPr algn="ctr"/>
            <a:r>
              <a:rPr kumimoji="1" lang="ja-JP" altLang="en-US" sz="2000" dirty="0">
                <a:solidFill>
                  <a:schemeClr val="tx1"/>
                </a:solidFill>
              </a:rPr>
              <a:t>→読み合わせ・後追いチェック</a:t>
            </a:r>
            <a:endParaRPr kumimoji="1" lang="en-US" altLang="ja-JP" sz="2000" dirty="0">
              <a:solidFill>
                <a:schemeClr val="tx1"/>
              </a:solidFill>
            </a:endParaRPr>
          </a:p>
        </p:txBody>
      </p:sp>
      <p:sp>
        <p:nvSpPr>
          <p:cNvPr id="28" name="四角形: 角を丸くする 27">
            <a:extLst>
              <a:ext uri="{FF2B5EF4-FFF2-40B4-BE49-F238E27FC236}">
                <a16:creationId xmlns:a16="http://schemas.microsoft.com/office/drawing/2014/main" id="{2882FAA7-6A7D-4427-1364-39C86ED59EA9}"/>
              </a:ext>
            </a:extLst>
          </p:cNvPr>
          <p:cNvSpPr/>
          <p:nvPr/>
        </p:nvSpPr>
        <p:spPr>
          <a:xfrm>
            <a:off x="8949248" y="3170418"/>
            <a:ext cx="2393388" cy="586008"/>
          </a:xfrm>
          <a:prstGeom prst="roundRect">
            <a:avLst/>
          </a:prstGeom>
          <a:no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仕業検査発注書</a:t>
            </a:r>
            <a:endParaRPr lang="en-US" altLang="ja-JP" sz="2000" dirty="0">
              <a:solidFill>
                <a:schemeClr val="tx1"/>
              </a:solidFill>
            </a:endParaRPr>
          </a:p>
          <a:p>
            <a:pPr algn="ctr"/>
            <a:r>
              <a:rPr lang="ja-JP" altLang="en-US" sz="2000" dirty="0">
                <a:solidFill>
                  <a:schemeClr val="tx1"/>
                </a:solidFill>
              </a:rPr>
              <a:t>作成→アプリで日数チェック</a:t>
            </a:r>
            <a:endParaRPr kumimoji="1" lang="en-US" altLang="ja-JP" sz="2000" dirty="0">
              <a:solidFill>
                <a:schemeClr val="tx1"/>
              </a:solidFill>
            </a:endParaRPr>
          </a:p>
        </p:txBody>
      </p:sp>
      <p:sp>
        <p:nvSpPr>
          <p:cNvPr id="29" name="四角形: 角を丸くする 28">
            <a:extLst>
              <a:ext uri="{FF2B5EF4-FFF2-40B4-BE49-F238E27FC236}">
                <a16:creationId xmlns:a16="http://schemas.microsoft.com/office/drawing/2014/main" id="{CF5C2039-CB70-0B07-FFDE-6AD30C2D6CE2}"/>
              </a:ext>
            </a:extLst>
          </p:cNvPr>
          <p:cNvSpPr/>
          <p:nvPr/>
        </p:nvSpPr>
        <p:spPr>
          <a:xfrm>
            <a:off x="1202595" y="2830023"/>
            <a:ext cx="2896639" cy="1493374"/>
          </a:xfrm>
          <a:prstGeom prst="roundRect">
            <a:avLst/>
          </a:prstGeom>
          <a:noFill/>
          <a:ln w="762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solidFill>
                <a:schemeClr val="tx1"/>
              </a:solidFill>
            </a:endParaRPr>
          </a:p>
        </p:txBody>
      </p:sp>
      <p:sp>
        <p:nvSpPr>
          <p:cNvPr id="30" name="矢印: 下 29">
            <a:extLst>
              <a:ext uri="{FF2B5EF4-FFF2-40B4-BE49-F238E27FC236}">
                <a16:creationId xmlns:a16="http://schemas.microsoft.com/office/drawing/2014/main" id="{72EFEC34-7FA6-E7C3-22D0-BACD0D768504}"/>
              </a:ext>
            </a:extLst>
          </p:cNvPr>
          <p:cNvSpPr/>
          <p:nvPr/>
        </p:nvSpPr>
        <p:spPr>
          <a:xfrm>
            <a:off x="3552137" y="2613271"/>
            <a:ext cx="895535" cy="813076"/>
          </a:xfrm>
          <a:prstGeom prst="downArrow">
            <a:avLst>
              <a:gd name="adj1" fmla="val 50000"/>
              <a:gd name="adj2" fmla="val 38591"/>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FAX</a:t>
            </a:r>
            <a:endParaRPr kumimoji="1" lang="ja-JP" altLang="en-US" dirty="0"/>
          </a:p>
        </p:txBody>
      </p:sp>
      <p:sp>
        <p:nvSpPr>
          <p:cNvPr id="31" name="矢印: 下 30">
            <a:extLst>
              <a:ext uri="{FF2B5EF4-FFF2-40B4-BE49-F238E27FC236}">
                <a16:creationId xmlns:a16="http://schemas.microsoft.com/office/drawing/2014/main" id="{D7027DD2-1CFE-7B80-CE67-6F271E29D15D}"/>
              </a:ext>
            </a:extLst>
          </p:cNvPr>
          <p:cNvSpPr/>
          <p:nvPr/>
        </p:nvSpPr>
        <p:spPr>
          <a:xfrm>
            <a:off x="6046774" y="3502294"/>
            <a:ext cx="1731478" cy="1445402"/>
          </a:xfrm>
          <a:prstGeom prst="downArrow">
            <a:avLst>
              <a:gd name="adj1" fmla="val 50000"/>
              <a:gd name="adj2" fmla="val 38591"/>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紙</a:t>
            </a:r>
            <a:endParaRPr lang="en-US" altLang="ja-JP" dirty="0"/>
          </a:p>
          <a:p>
            <a:pPr algn="ctr"/>
            <a:r>
              <a:rPr lang="ja-JP" altLang="en-US" dirty="0"/>
              <a:t>１階分異動</a:t>
            </a:r>
            <a:endParaRPr lang="en-US" altLang="ja-JP" dirty="0"/>
          </a:p>
        </p:txBody>
      </p:sp>
      <p:sp>
        <p:nvSpPr>
          <p:cNvPr id="32" name="矢印: 上 31">
            <a:extLst>
              <a:ext uri="{FF2B5EF4-FFF2-40B4-BE49-F238E27FC236}">
                <a16:creationId xmlns:a16="http://schemas.microsoft.com/office/drawing/2014/main" id="{62577953-93B8-FE80-DFE9-5E257013CFDF}"/>
              </a:ext>
            </a:extLst>
          </p:cNvPr>
          <p:cNvSpPr/>
          <p:nvPr/>
        </p:nvSpPr>
        <p:spPr>
          <a:xfrm>
            <a:off x="7955104" y="3444168"/>
            <a:ext cx="1770688" cy="1361148"/>
          </a:xfrm>
          <a:prstGeom prst="up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紙</a:t>
            </a:r>
            <a:endParaRPr kumimoji="1" lang="en-US" altLang="ja-JP" dirty="0"/>
          </a:p>
          <a:p>
            <a:pPr algn="ctr"/>
            <a:r>
              <a:rPr lang="ja-JP" altLang="en-US" dirty="0"/>
              <a:t>１階分異動</a:t>
            </a:r>
            <a:endParaRPr kumimoji="1" lang="ja-JP" altLang="en-US" dirty="0"/>
          </a:p>
        </p:txBody>
      </p:sp>
      <p:sp>
        <p:nvSpPr>
          <p:cNvPr id="33" name="四角形: 角を丸くする 32">
            <a:extLst>
              <a:ext uri="{FF2B5EF4-FFF2-40B4-BE49-F238E27FC236}">
                <a16:creationId xmlns:a16="http://schemas.microsoft.com/office/drawing/2014/main" id="{EFB7BE72-D05B-CA38-2B5C-223149B9CC76}"/>
              </a:ext>
            </a:extLst>
          </p:cNvPr>
          <p:cNvSpPr/>
          <p:nvPr/>
        </p:nvSpPr>
        <p:spPr>
          <a:xfrm>
            <a:off x="7495347" y="4551184"/>
            <a:ext cx="1006837" cy="485406"/>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Excel</a:t>
            </a:r>
            <a:r>
              <a:rPr lang="ja-JP" altLang="en-US" dirty="0">
                <a:solidFill>
                  <a:schemeClr val="tx1"/>
                </a:solidFill>
              </a:rPr>
              <a:t>自動作成</a:t>
            </a:r>
            <a:endParaRPr kumimoji="1" lang="ja-JP" altLang="en-US" dirty="0">
              <a:solidFill>
                <a:schemeClr val="tx1"/>
              </a:solidFill>
            </a:endParaRPr>
          </a:p>
        </p:txBody>
      </p:sp>
      <p:sp>
        <p:nvSpPr>
          <p:cNvPr id="34" name="四角形: 角を丸くする 33">
            <a:extLst>
              <a:ext uri="{FF2B5EF4-FFF2-40B4-BE49-F238E27FC236}">
                <a16:creationId xmlns:a16="http://schemas.microsoft.com/office/drawing/2014/main" id="{AD1E7B37-5789-683A-1AAD-D2FB594025A2}"/>
              </a:ext>
            </a:extLst>
          </p:cNvPr>
          <p:cNvSpPr/>
          <p:nvPr/>
        </p:nvSpPr>
        <p:spPr>
          <a:xfrm>
            <a:off x="4284903" y="2455641"/>
            <a:ext cx="2643457" cy="403324"/>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紙・自身で考える・手書き</a:t>
            </a:r>
          </a:p>
        </p:txBody>
      </p:sp>
      <p:sp>
        <p:nvSpPr>
          <p:cNvPr id="35" name="四角形: 角を丸くする 34">
            <a:extLst>
              <a:ext uri="{FF2B5EF4-FFF2-40B4-BE49-F238E27FC236}">
                <a16:creationId xmlns:a16="http://schemas.microsoft.com/office/drawing/2014/main" id="{327C6859-CCF1-873E-553F-BC01FEDB5302}"/>
              </a:ext>
            </a:extLst>
          </p:cNvPr>
          <p:cNvSpPr/>
          <p:nvPr/>
        </p:nvSpPr>
        <p:spPr>
          <a:xfrm>
            <a:off x="8635368" y="2660727"/>
            <a:ext cx="1689819" cy="396475"/>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紙で作成</a:t>
            </a:r>
            <a:endParaRPr lang="en-US" altLang="ja-JP" dirty="0">
              <a:solidFill>
                <a:schemeClr val="tx1"/>
              </a:solidFill>
            </a:endParaRPr>
          </a:p>
        </p:txBody>
      </p:sp>
      <p:sp>
        <p:nvSpPr>
          <p:cNvPr id="36" name="四角形: 角を丸くする 35">
            <a:extLst>
              <a:ext uri="{FF2B5EF4-FFF2-40B4-BE49-F238E27FC236}">
                <a16:creationId xmlns:a16="http://schemas.microsoft.com/office/drawing/2014/main" id="{20521071-036B-ED3D-CA19-51C868813101}"/>
              </a:ext>
            </a:extLst>
          </p:cNvPr>
          <p:cNvSpPr/>
          <p:nvPr/>
        </p:nvSpPr>
        <p:spPr>
          <a:xfrm>
            <a:off x="10981756" y="3817799"/>
            <a:ext cx="1186045" cy="542845"/>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デジタル</a:t>
            </a:r>
            <a:endParaRPr lang="en-US" altLang="ja-JP" dirty="0">
              <a:solidFill>
                <a:schemeClr val="tx1"/>
              </a:solidFill>
            </a:endParaRPr>
          </a:p>
          <a:p>
            <a:pPr algn="ctr"/>
            <a:r>
              <a:rPr lang="ja-JP" altLang="en-US" dirty="0">
                <a:solidFill>
                  <a:schemeClr val="tx1"/>
                </a:solidFill>
              </a:rPr>
              <a:t>手動作成</a:t>
            </a:r>
            <a:endParaRPr kumimoji="1" lang="ja-JP" altLang="en-US" dirty="0">
              <a:solidFill>
                <a:schemeClr val="tx1"/>
              </a:solidFill>
            </a:endParaRPr>
          </a:p>
        </p:txBody>
      </p:sp>
      <p:sp>
        <p:nvSpPr>
          <p:cNvPr id="39" name="四角形: 角を丸くする 38">
            <a:extLst>
              <a:ext uri="{FF2B5EF4-FFF2-40B4-BE49-F238E27FC236}">
                <a16:creationId xmlns:a16="http://schemas.microsoft.com/office/drawing/2014/main" id="{6E659766-C35D-3140-4E7D-3152EA634079}"/>
              </a:ext>
            </a:extLst>
          </p:cNvPr>
          <p:cNvSpPr/>
          <p:nvPr/>
        </p:nvSpPr>
        <p:spPr>
          <a:xfrm>
            <a:off x="9046111" y="5086968"/>
            <a:ext cx="2335474" cy="586008"/>
          </a:xfrm>
          <a:prstGeom prst="roundRect">
            <a:avLst/>
          </a:prstGeom>
          <a:noFill/>
          <a:ln w="762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清掃発注書作成</a:t>
            </a:r>
            <a:endParaRPr lang="en-US" altLang="ja-JP" sz="2000" dirty="0">
              <a:solidFill>
                <a:schemeClr val="tx1"/>
              </a:solidFill>
            </a:endParaRPr>
          </a:p>
          <a:p>
            <a:pPr algn="ctr"/>
            <a:r>
              <a:rPr kumimoji="1" lang="ja-JP" altLang="en-US" sz="2000" dirty="0">
                <a:solidFill>
                  <a:schemeClr val="tx1"/>
                </a:solidFill>
              </a:rPr>
              <a:t>→運用表と照合しチェック</a:t>
            </a:r>
            <a:endParaRPr kumimoji="1" lang="en-US" altLang="ja-JP" sz="2000" dirty="0">
              <a:solidFill>
                <a:schemeClr val="tx1"/>
              </a:solidFill>
            </a:endParaRPr>
          </a:p>
        </p:txBody>
      </p:sp>
      <p:sp>
        <p:nvSpPr>
          <p:cNvPr id="40" name="四角形: 角を丸くする 39">
            <a:extLst>
              <a:ext uri="{FF2B5EF4-FFF2-40B4-BE49-F238E27FC236}">
                <a16:creationId xmlns:a16="http://schemas.microsoft.com/office/drawing/2014/main" id="{4726F038-268E-22D1-DBC9-0FC2563CCA4D}"/>
              </a:ext>
            </a:extLst>
          </p:cNvPr>
          <p:cNvSpPr/>
          <p:nvPr/>
        </p:nvSpPr>
        <p:spPr>
          <a:xfrm>
            <a:off x="10619569" y="5491937"/>
            <a:ext cx="1572431" cy="542845"/>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変更を手入力→自動作成</a:t>
            </a:r>
          </a:p>
        </p:txBody>
      </p:sp>
      <p:sp>
        <p:nvSpPr>
          <p:cNvPr id="41" name="四角形: 角を丸くする 40">
            <a:extLst>
              <a:ext uri="{FF2B5EF4-FFF2-40B4-BE49-F238E27FC236}">
                <a16:creationId xmlns:a16="http://schemas.microsoft.com/office/drawing/2014/main" id="{D23F4B4A-BBED-CDE0-3F52-1F63622396BE}"/>
              </a:ext>
            </a:extLst>
          </p:cNvPr>
          <p:cNvSpPr/>
          <p:nvPr/>
        </p:nvSpPr>
        <p:spPr>
          <a:xfrm>
            <a:off x="1086867" y="4351061"/>
            <a:ext cx="2139408" cy="791714"/>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車両管理システム</a:t>
            </a:r>
            <a:endParaRPr lang="en-US" altLang="ja-JP" dirty="0">
              <a:solidFill>
                <a:schemeClr val="tx1"/>
              </a:solidFill>
            </a:endParaRPr>
          </a:p>
          <a:p>
            <a:pPr algn="ctr"/>
            <a:r>
              <a:rPr kumimoji="1" lang="ja-JP" altLang="en-US" dirty="0">
                <a:solidFill>
                  <a:schemeClr val="tx1"/>
                </a:solidFill>
              </a:rPr>
              <a:t>紙のダイヤ・手書き</a:t>
            </a:r>
          </a:p>
        </p:txBody>
      </p:sp>
      <p:sp>
        <p:nvSpPr>
          <p:cNvPr id="42" name="四角形: 角を丸くする 41">
            <a:extLst>
              <a:ext uri="{FF2B5EF4-FFF2-40B4-BE49-F238E27FC236}">
                <a16:creationId xmlns:a16="http://schemas.microsoft.com/office/drawing/2014/main" id="{2699816B-CBDA-8898-FD4D-9EEE16922B6C}"/>
              </a:ext>
            </a:extLst>
          </p:cNvPr>
          <p:cNvSpPr/>
          <p:nvPr/>
        </p:nvSpPr>
        <p:spPr>
          <a:xfrm>
            <a:off x="13237403" y="2992664"/>
            <a:ext cx="1997015" cy="765410"/>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相互にチェック</a:t>
            </a:r>
          </a:p>
        </p:txBody>
      </p:sp>
      <p:sp>
        <p:nvSpPr>
          <p:cNvPr id="43" name="四角形: 角を丸くする 42">
            <a:extLst>
              <a:ext uri="{FF2B5EF4-FFF2-40B4-BE49-F238E27FC236}">
                <a16:creationId xmlns:a16="http://schemas.microsoft.com/office/drawing/2014/main" id="{DC5CEE6E-F45C-44FC-B320-B83F4F9584B6}"/>
              </a:ext>
            </a:extLst>
          </p:cNvPr>
          <p:cNvSpPr/>
          <p:nvPr/>
        </p:nvSpPr>
        <p:spPr>
          <a:xfrm>
            <a:off x="12805875" y="2255602"/>
            <a:ext cx="1997015" cy="682026"/>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検修当直自身のチェックのみ</a:t>
            </a:r>
            <a:endParaRPr kumimoji="1" lang="ja-JP" altLang="en-US" dirty="0">
              <a:solidFill>
                <a:schemeClr val="tx1"/>
              </a:solidFill>
            </a:endParaRPr>
          </a:p>
        </p:txBody>
      </p:sp>
      <p:sp>
        <p:nvSpPr>
          <p:cNvPr id="44" name="四角形: 角を丸くする 43">
            <a:extLst>
              <a:ext uri="{FF2B5EF4-FFF2-40B4-BE49-F238E27FC236}">
                <a16:creationId xmlns:a16="http://schemas.microsoft.com/office/drawing/2014/main" id="{C3756259-E5FF-0C47-914E-C1FF7765A914}"/>
              </a:ext>
            </a:extLst>
          </p:cNvPr>
          <p:cNvSpPr/>
          <p:nvPr/>
        </p:nvSpPr>
        <p:spPr>
          <a:xfrm>
            <a:off x="12662990" y="1655604"/>
            <a:ext cx="1672778" cy="64756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アプリで日数</a:t>
            </a:r>
            <a:r>
              <a:rPr kumimoji="1" lang="ja-JP" altLang="en-US" dirty="0">
                <a:solidFill>
                  <a:schemeClr val="tx1"/>
                </a:solidFill>
              </a:rPr>
              <a:t>チェック</a:t>
            </a:r>
          </a:p>
        </p:txBody>
      </p:sp>
      <p:sp>
        <p:nvSpPr>
          <p:cNvPr id="45" name="四角形: 角を丸くする 44">
            <a:extLst>
              <a:ext uri="{FF2B5EF4-FFF2-40B4-BE49-F238E27FC236}">
                <a16:creationId xmlns:a16="http://schemas.microsoft.com/office/drawing/2014/main" id="{0377767A-FB36-8CB8-5CC7-0AC1AADF7A40}"/>
              </a:ext>
            </a:extLst>
          </p:cNvPr>
          <p:cNvSpPr/>
          <p:nvPr/>
        </p:nvSpPr>
        <p:spPr>
          <a:xfrm>
            <a:off x="12321676" y="970734"/>
            <a:ext cx="1696997" cy="685111"/>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読み合わせ・後追いチェック</a:t>
            </a:r>
          </a:p>
        </p:txBody>
      </p:sp>
    </p:spTree>
    <p:extLst>
      <p:ext uri="{BB962C8B-B14F-4D97-AF65-F5344CB8AC3E}">
        <p14:creationId xmlns:p14="http://schemas.microsoft.com/office/powerpoint/2010/main" val="629725961"/>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5ABF-B22B-3F05-F33C-50531322F5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6EE8F1-A8EC-178E-7A1F-A62FCBA9D04E}"/>
              </a:ext>
            </a:extLst>
          </p:cNvPr>
          <p:cNvSpPr>
            <a:spLocks noGrp="1"/>
          </p:cNvSpPr>
          <p:nvPr>
            <p:ph idx="1"/>
          </p:nvPr>
        </p:nvSpPr>
        <p:spPr>
          <a:xfrm>
            <a:off x="912797" y="1325217"/>
            <a:ext cx="10515600" cy="4888162"/>
          </a:xfrm>
        </p:spPr>
        <p:txBody>
          <a:bodyPr vert="horz" lIns="91440" tIns="45720" rIns="91440" bIns="45720" rtlCol="0" anchor="t">
            <a:normAutofit/>
          </a:bodyPr>
          <a:lstStyle/>
          <a:p>
            <a:r>
              <a:rPr lang="ja-JP" altLang="en-US" dirty="0"/>
              <a:t>異常時に一連の当直業務を体験した中で、時間がかかっている</a:t>
            </a:r>
            <a:r>
              <a:rPr lang="ja-JP" altLang="ja-JP" dirty="0"/>
              <a:t>業務を探した</a:t>
            </a:r>
            <a:endParaRPr lang="en-US" altLang="ja-JP" dirty="0"/>
          </a:p>
          <a:p>
            <a:pPr marL="0" indent="0">
              <a:buNone/>
            </a:pPr>
            <a:r>
              <a:rPr lang="ja-JP" altLang="en-US" dirty="0"/>
              <a:t>↓</a:t>
            </a:r>
            <a:endParaRPr lang="en-US" altLang="ja-JP" dirty="0"/>
          </a:p>
          <a:p>
            <a:r>
              <a:rPr lang="ja-JP" altLang="en-US" dirty="0"/>
              <a:t>指令の運転整理から車両の追跡①</a:t>
            </a:r>
            <a:endParaRPr lang="en-US" altLang="ja-JP" dirty="0"/>
          </a:p>
          <a:p>
            <a:r>
              <a:rPr lang="ja-JP" altLang="en-US" dirty="0"/>
              <a:t>運用表再調整（「戻し」）①</a:t>
            </a:r>
            <a:endParaRPr lang="en-US" altLang="ja-JP" dirty="0"/>
          </a:p>
          <a:p>
            <a:r>
              <a:rPr lang="en-US" altLang="ja-JP" dirty="0"/>
              <a:t>JETS</a:t>
            </a:r>
            <a:r>
              <a:rPr lang="ja-JP" altLang="en-US" dirty="0"/>
              <a:t>が運用表をもとに構内入換計画表作成②</a:t>
            </a:r>
            <a:endParaRPr lang="en-US" altLang="ja-JP" dirty="0"/>
          </a:p>
          <a:p>
            <a:r>
              <a:rPr lang="en-US" altLang="ja-JP" dirty="0"/>
              <a:t>JETS</a:t>
            </a:r>
            <a:r>
              <a:rPr lang="ja-JP" altLang="en-US" dirty="0"/>
              <a:t>の構内入換計画表を基に構内当直が出区表を作成③</a:t>
            </a:r>
            <a:endParaRPr lang="en-US" altLang="ja-JP" dirty="0"/>
          </a:p>
          <a:p>
            <a:r>
              <a:rPr lang="ja-JP" altLang="en-US" dirty="0"/>
              <a:t>構内入換計画表の作成は</a:t>
            </a:r>
            <a:r>
              <a:rPr lang="en-US" altLang="ja-JP" dirty="0"/>
              <a:t>Excel</a:t>
            </a:r>
            <a:r>
              <a:rPr lang="ja-JP" altLang="en-US" dirty="0"/>
              <a:t>のマクロで作成しているのに、それを印刷して紙で手渡し、出区表を手打ちで作成④</a:t>
            </a:r>
            <a:endParaRPr lang="en-US" altLang="ja-JP" dirty="0"/>
          </a:p>
          <a:p>
            <a:pPr marL="0" indent="0">
              <a:buNone/>
            </a:pPr>
            <a:endParaRPr lang="en-US" altLang="ja-JP" dirty="0"/>
          </a:p>
          <a:p>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C79D21F3-6D61-947B-5D83-5A78C83BF423}"/>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効率化が必要な業務</a:t>
            </a:r>
            <a:endParaRPr lang="en-US" sz="4400" dirty="0">
              <a:ea typeface="ＭＳ Ｐゴシック"/>
            </a:endParaRPr>
          </a:p>
        </p:txBody>
      </p:sp>
      <p:sp>
        <p:nvSpPr>
          <p:cNvPr id="5" name="Rectangle 4">
            <a:extLst>
              <a:ext uri="{FF2B5EF4-FFF2-40B4-BE49-F238E27FC236}">
                <a16:creationId xmlns:a16="http://schemas.microsoft.com/office/drawing/2014/main" id="{CFB3C91D-2EA2-6F5F-E405-265F5C4CBC90}"/>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16D50CF5-389E-D675-3E66-E0D5E5971ED2}"/>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6</a:t>
            </a:fld>
            <a:endParaRPr kumimoji="1" lang="ja-JP" altLang="en-US"/>
          </a:p>
        </p:txBody>
      </p:sp>
    </p:spTree>
    <p:extLst>
      <p:ext uri="{BB962C8B-B14F-4D97-AF65-F5344CB8AC3E}">
        <p14:creationId xmlns:p14="http://schemas.microsoft.com/office/powerpoint/2010/main" val="1598485211"/>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3B18-7F2C-E4C8-8F46-936C8E196B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431AD-9C9A-2D61-C75F-7A1B49D776D2}"/>
              </a:ext>
            </a:extLst>
          </p:cNvPr>
          <p:cNvSpPr>
            <a:spLocks noGrp="1"/>
          </p:cNvSpPr>
          <p:nvPr>
            <p:ph idx="1"/>
          </p:nvPr>
        </p:nvSpPr>
        <p:spPr>
          <a:xfrm>
            <a:off x="912797" y="1325216"/>
            <a:ext cx="10515600" cy="5234609"/>
          </a:xfrm>
        </p:spPr>
        <p:txBody>
          <a:bodyPr vert="horz" lIns="91440" tIns="45720" rIns="91440" bIns="45720" rtlCol="0" anchor="t">
            <a:normAutofit fontScale="92500" lnSpcReduction="20000"/>
          </a:bodyPr>
          <a:lstStyle/>
          <a:p>
            <a:pPr marL="0" indent="0">
              <a:buNone/>
            </a:pPr>
            <a:r>
              <a:rPr lang="ja-JP" altLang="en-US" dirty="0"/>
              <a:t>理想の形</a:t>
            </a:r>
            <a:endParaRPr lang="en-US" altLang="ja-JP" dirty="0"/>
          </a:p>
          <a:p>
            <a:pPr marL="0" indent="0">
              <a:buNone/>
            </a:pPr>
            <a:r>
              <a:rPr lang="ja-JP" altLang="en-US" dirty="0"/>
              <a:t>指令の変更連絡をもとに車両の位置を自動で追跡</a:t>
            </a:r>
            <a:endParaRPr lang="en-US" altLang="ja-JP" dirty="0"/>
          </a:p>
          <a:p>
            <a:pPr marL="0" indent="0">
              <a:buNone/>
            </a:pPr>
            <a:r>
              <a:rPr lang="ja-JP" altLang="en-US" dirty="0"/>
              <a:t>位置をもとに運用変更（戻し）を自動化</a:t>
            </a:r>
            <a:endParaRPr lang="en-US" altLang="ja-JP" dirty="0"/>
          </a:p>
          <a:p>
            <a:pPr marL="0" indent="0">
              <a:buNone/>
            </a:pPr>
            <a:endParaRPr lang="en-US" altLang="ja-JP" dirty="0"/>
          </a:p>
          <a:p>
            <a:pPr marL="0" indent="0">
              <a:buNone/>
            </a:pPr>
            <a:r>
              <a:rPr lang="ja-JP" altLang="en-US" dirty="0"/>
              <a:t>課題</a:t>
            </a:r>
            <a:endParaRPr lang="en-US" altLang="ja-JP" dirty="0"/>
          </a:p>
          <a:p>
            <a:pPr marL="0" indent="0">
              <a:buNone/>
            </a:pPr>
            <a:r>
              <a:rPr lang="ja-JP" altLang="en-US" dirty="0"/>
              <a:t>そもそも指令から変更連絡が手書き</a:t>
            </a:r>
            <a:r>
              <a:rPr lang="en-US" altLang="ja-JP" dirty="0"/>
              <a:t>FAX</a:t>
            </a:r>
            <a:r>
              <a:rPr lang="ja-JP" altLang="en-US" dirty="0"/>
              <a:t>で来る</a:t>
            </a:r>
            <a:endParaRPr lang="en-US" altLang="ja-JP" dirty="0"/>
          </a:p>
          <a:p>
            <a:pPr marL="0" indent="0">
              <a:buNone/>
            </a:pPr>
            <a:endParaRPr lang="en-US" altLang="ja-JP" dirty="0"/>
          </a:p>
          <a:p>
            <a:pPr marL="0" indent="0">
              <a:buNone/>
            </a:pPr>
            <a:r>
              <a:rPr lang="ja-JP" altLang="en-US" dirty="0"/>
              <a:t>必要な段階</a:t>
            </a:r>
            <a:endParaRPr lang="en-US" altLang="ja-JP" dirty="0"/>
          </a:p>
          <a:p>
            <a:pPr marL="0" indent="0">
              <a:buNone/>
            </a:pPr>
            <a:r>
              <a:rPr lang="ja-JP" altLang="en-US" dirty="0"/>
              <a:t>指令の変更連絡をデータ化</a:t>
            </a:r>
            <a:endParaRPr lang="en-US" altLang="ja-JP" dirty="0"/>
          </a:p>
          <a:p>
            <a:pPr marL="0" indent="0">
              <a:buNone/>
            </a:pPr>
            <a:r>
              <a:rPr lang="ja-JP" altLang="en-US" dirty="0"/>
              <a:t>手段：ジャスト</a:t>
            </a:r>
            <a:r>
              <a:rPr lang="en-US" altLang="ja-JP" dirty="0"/>
              <a:t>PDF</a:t>
            </a:r>
            <a:r>
              <a:rPr lang="ja-JP" altLang="en-US" dirty="0"/>
              <a:t>、生成</a:t>
            </a:r>
            <a:r>
              <a:rPr lang="en-US" altLang="ja-JP" dirty="0"/>
              <a:t>Ai</a:t>
            </a:r>
          </a:p>
          <a:p>
            <a:pPr marL="0" indent="0">
              <a:buNone/>
            </a:pPr>
            <a:endParaRPr lang="en-US" altLang="ja-JP" dirty="0"/>
          </a:p>
          <a:p>
            <a:pPr marL="0" indent="0">
              <a:buNone/>
            </a:pPr>
            <a:r>
              <a:rPr lang="ja-JP" altLang="en-US" dirty="0"/>
              <a:t>→ゆくゆくは追跡・戻しを自動化するシステム作成</a:t>
            </a:r>
            <a:endParaRPr lang="en-US" altLang="ja-JP" dirty="0"/>
          </a:p>
          <a:p>
            <a:pPr marL="0" indent="0">
              <a:buNone/>
            </a:pPr>
            <a:r>
              <a:rPr lang="ja-JP" altLang="en-US"/>
              <a:t>→手書きのデータ化は他業務・他職場にも転用可能</a:t>
            </a:r>
            <a:endParaRPr lang="en-US" altLang="ja-JP" dirty="0"/>
          </a:p>
          <a:p>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6D722B5E-31DC-997F-1659-980CC813F605}"/>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着目した業務（取り組み内容）①</a:t>
            </a:r>
            <a:endParaRPr lang="en-US" sz="4400" dirty="0">
              <a:ea typeface="ＭＳ Ｐゴシック"/>
            </a:endParaRPr>
          </a:p>
        </p:txBody>
      </p:sp>
      <p:sp>
        <p:nvSpPr>
          <p:cNvPr id="5" name="Rectangle 4">
            <a:extLst>
              <a:ext uri="{FF2B5EF4-FFF2-40B4-BE49-F238E27FC236}">
                <a16:creationId xmlns:a16="http://schemas.microsoft.com/office/drawing/2014/main" id="{9D780B2F-E5FE-8B70-C8C8-179130A09B1A}"/>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F451DE43-F075-DFEA-F9DF-F3B7FDE75C31}"/>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7</a:t>
            </a:fld>
            <a:endParaRPr kumimoji="1" lang="ja-JP" altLang="en-US"/>
          </a:p>
        </p:txBody>
      </p:sp>
    </p:spTree>
    <p:extLst>
      <p:ext uri="{BB962C8B-B14F-4D97-AF65-F5344CB8AC3E}">
        <p14:creationId xmlns:p14="http://schemas.microsoft.com/office/powerpoint/2010/main" val="3623465884"/>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CC227-4D3B-C287-5016-3DB19F27C1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20C9A-6F1F-B1F3-E08D-4AD83A86C8EA}"/>
              </a:ext>
            </a:extLst>
          </p:cNvPr>
          <p:cNvSpPr>
            <a:spLocks noGrp="1"/>
          </p:cNvSpPr>
          <p:nvPr>
            <p:ph idx="1"/>
          </p:nvPr>
        </p:nvSpPr>
        <p:spPr>
          <a:xfrm>
            <a:off x="912797" y="1325216"/>
            <a:ext cx="10515600" cy="5234609"/>
          </a:xfrm>
        </p:spPr>
        <p:txBody>
          <a:bodyPr vert="horz" lIns="91440" tIns="45720" rIns="91440" bIns="45720" rtlCol="0" anchor="t">
            <a:normAutofit/>
          </a:bodyPr>
          <a:lstStyle/>
          <a:p>
            <a:pPr marL="0" indent="0">
              <a:buNone/>
            </a:pPr>
            <a:r>
              <a:rPr lang="ja-JP" altLang="en-US" dirty="0"/>
              <a:t>手書きをデータ化するハードル</a:t>
            </a:r>
            <a:endParaRPr lang="en-US" altLang="ja-JP" dirty="0"/>
          </a:p>
          <a:p>
            <a:pPr marL="0" indent="0">
              <a:buNone/>
            </a:pPr>
            <a:r>
              <a:rPr lang="ja-JP" altLang="en-US" dirty="0"/>
              <a:t>・精度</a:t>
            </a:r>
            <a:endParaRPr lang="en-US" altLang="ja-JP" dirty="0"/>
          </a:p>
          <a:p>
            <a:pPr marL="0" indent="0">
              <a:buNone/>
            </a:pPr>
            <a:r>
              <a:rPr lang="ja-JP" altLang="en-US" dirty="0"/>
              <a:t>→列番や電略のパターンを全て挙げ、定義に沿って指示する</a:t>
            </a:r>
            <a:endParaRPr lang="en-US" altLang="ja-JP" dirty="0"/>
          </a:p>
          <a:p>
            <a:pPr marL="0" indent="0">
              <a:buNone/>
            </a:pPr>
            <a:endParaRPr lang="en-US" altLang="ja-JP" dirty="0"/>
          </a:p>
          <a:p>
            <a:pPr marL="0" indent="0">
              <a:buNone/>
            </a:pPr>
            <a:r>
              <a:rPr lang="ja-JP" altLang="en-US" dirty="0"/>
              <a:t>・１つの列番で２つの列車が存在することへの対応</a:t>
            </a:r>
            <a:endParaRPr lang="en-US" altLang="ja-JP" dirty="0"/>
          </a:p>
          <a:p>
            <a:pPr marL="0" indent="0">
              <a:buNone/>
            </a:pPr>
            <a:r>
              <a:rPr lang="ja-JP" altLang="en-US" dirty="0"/>
              <a:t>検討中</a:t>
            </a:r>
            <a:endParaRPr lang="en-US" altLang="ja-JP" dirty="0"/>
          </a:p>
          <a:p>
            <a:pPr marL="0" indent="0">
              <a:buNone/>
            </a:pPr>
            <a:endParaRPr lang="en-US" altLang="ja-JP" dirty="0"/>
          </a:p>
          <a:p>
            <a:pPr marL="0" indent="0">
              <a:buNone/>
            </a:pPr>
            <a:r>
              <a:rPr lang="ja-JP" altLang="en-US" dirty="0"/>
              <a:t>・再変への対応</a:t>
            </a:r>
            <a:endParaRPr lang="en-US" altLang="ja-JP" dirty="0"/>
          </a:p>
          <a:p>
            <a:pPr marL="0" indent="0">
              <a:buNone/>
            </a:pPr>
            <a:r>
              <a:rPr lang="ja-JP" altLang="en-US" dirty="0"/>
              <a:t>検討中</a:t>
            </a:r>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E3B04C90-A49F-5BAA-9A57-69C6019789B4}"/>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参考：</a:t>
            </a:r>
            <a:endParaRPr lang="en-US" sz="4400" dirty="0">
              <a:ea typeface="ＭＳ Ｐゴシック"/>
            </a:endParaRPr>
          </a:p>
        </p:txBody>
      </p:sp>
      <p:sp>
        <p:nvSpPr>
          <p:cNvPr id="5" name="Rectangle 4">
            <a:extLst>
              <a:ext uri="{FF2B5EF4-FFF2-40B4-BE49-F238E27FC236}">
                <a16:creationId xmlns:a16="http://schemas.microsoft.com/office/drawing/2014/main" id="{60319845-B97E-5D5C-3A9A-8DAF9CE2D15F}"/>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14CBF48E-A078-849B-4659-5B43F908CD37}"/>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8</a:t>
            </a:fld>
            <a:endParaRPr kumimoji="1" lang="ja-JP" altLang="en-US"/>
          </a:p>
        </p:txBody>
      </p:sp>
    </p:spTree>
    <p:extLst>
      <p:ext uri="{BB962C8B-B14F-4D97-AF65-F5344CB8AC3E}">
        <p14:creationId xmlns:p14="http://schemas.microsoft.com/office/powerpoint/2010/main" val="649523326"/>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ECDAF-BF1D-34E7-BC32-917C64E1E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228C39-60B5-BFD1-D7AA-F336B8CAA310}"/>
              </a:ext>
            </a:extLst>
          </p:cNvPr>
          <p:cNvSpPr>
            <a:spLocks noGrp="1"/>
          </p:cNvSpPr>
          <p:nvPr>
            <p:ph idx="1"/>
          </p:nvPr>
        </p:nvSpPr>
        <p:spPr>
          <a:xfrm>
            <a:off x="912797" y="1325216"/>
            <a:ext cx="10515600" cy="5234609"/>
          </a:xfrm>
        </p:spPr>
        <p:txBody>
          <a:bodyPr vert="horz" lIns="91440" tIns="45720" rIns="91440" bIns="45720" rtlCol="0" anchor="t">
            <a:normAutofit/>
          </a:bodyPr>
          <a:lstStyle/>
          <a:p>
            <a:pPr marL="0" indent="0">
              <a:buNone/>
            </a:pPr>
            <a:r>
              <a:rPr lang="ja-JP" altLang="en-US" dirty="0"/>
              <a:t>理想の形</a:t>
            </a:r>
            <a:endParaRPr lang="en-US" altLang="ja-JP" dirty="0"/>
          </a:p>
          <a:p>
            <a:pPr marL="0" indent="0">
              <a:buNone/>
            </a:pPr>
            <a:r>
              <a:rPr lang="ja-JP" altLang="en-US" dirty="0"/>
              <a:t>運用表のデータを</a:t>
            </a:r>
            <a:r>
              <a:rPr lang="en-US" altLang="ja-JP" dirty="0"/>
              <a:t>JETS</a:t>
            </a:r>
            <a:r>
              <a:rPr lang="ja-JP" altLang="en-US" dirty="0"/>
              <a:t>に送り、</a:t>
            </a:r>
            <a:r>
              <a:rPr lang="en-US" altLang="ja-JP" dirty="0"/>
              <a:t>Excel</a:t>
            </a:r>
            <a:r>
              <a:rPr lang="ja-JP" altLang="en-US" dirty="0"/>
              <a:t>で自動作成</a:t>
            </a:r>
            <a:endParaRPr lang="en-US" altLang="ja-JP" dirty="0"/>
          </a:p>
          <a:p>
            <a:pPr marL="0" indent="0">
              <a:buNone/>
            </a:pPr>
            <a:endParaRPr lang="en-US" altLang="ja-JP" dirty="0"/>
          </a:p>
          <a:p>
            <a:pPr marL="0" indent="0">
              <a:buNone/>
            </a:pPr>
            <a:r>
              <a:rPr lang="ja-JP" altLang="en-US" dirty="0"/>
              <a:t>課題</a:t>
            </a:r>
            <a:endParaRPr lang="en-US" altLang="ja-JP" dirty="0"/>
          </a:p>
          <a:p>
            <a:pPr marL="0" indent="0">
              <a:buNone/>
            </a:pPr>
            <a:r>
              <a:rPr lang="en-US" altLang="ja-JP" dirty="0"/>
              <a:t>JETS</a:t>
            </a:r>
            <a:r>
              <a:rPr lang="ja-JP" altLang="en-US" dirty="0"/>
              <a:t>に手書きの紙で運用表を送り、</a:t>
            </a:r>
            <a:r>
              <a:rPr lang="en-US" altLang="ja-JP" dirty="0"/>
              <a:t>JETS</a:t>
            </a:r>
            <a:r>
              <a:rPr lang="ja-JP" altLang="en-US" dirty="0"/>
              <a:t>の中で</a:t>
            </a:r>
            <a:r>
              <a:rPr lang="en-US" altLang="ja-JP" dirty="0"/>
              <a:t>Excel</a:t>
            </a:r>
            <a:r>
              <a:rPr lang="ja-JP" altLang="en-US" dirty="0"/>
              <a:t>に変更部分を手入力する手間が発生</a:t>
            </a:r>
            <a:endParaRPr lang="en-US" altLang="ja-JP" dirty="0"/>
          </a:p>
          <a:p>
            <a:pPr marL="0" indent="0">
              <a:buNone/>
            </a:pPr>
            <a:endParaRPr lang="en-US" altLang="ja-JP" dirty="0"/>
          </a:p>
          <a:p>
            <a:pPr marL="0" indent="0">
              <a:buNone/>
            </a:pPr>
            <a:r>
              <a:rPr lang="ja-JP" altLang="en-US" dirty="0"/>
              <a:t>解決策</a:t>
            </a:r>
            <a:endParaRPr lang="en-US" altLang="ja-JP" dirty="0"/>
          </a:p>
          <a:p>
            <a:pPr marL="0" indent="0">
              <a:buNone/>
            </a:pPr>
            <a:r>
              <a:rPr lang="ja-JP" altLang="en-US" dirty="0"/>
              <a:t>手書きの運用表をデータ化し取り急ぎ運用表を</a:t>
            </a:r>
            <a:r>
              <a:rPr lang="en-US" altLang="ja-JP" dirty="0"/>
              <a:t>JETS</a:t>
            </a:r>
            <a:r>
              <a:rPr lang="ja-JP" altLang="en-US" dirty="0"/>
              <a:t>に共有</a:t>
            </a:r>
            <a:endParaRPr lang="en-US" altLang="ja-JP" dirty="0"/>
          </a:p>
          <a:p>
            <a:pPr marL="0" indent="0">
              <a:buNone/>
            </a:pPr>
            <a:endParaRPr lang="en-US" altLang="ja-JP" dirty="0"/>
          </a:p>
          <a:p>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7F3DF5E5-BE31-9557-68FD-BE4EFCE3350F}"/>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着目した業務（取り組み内容）②</a:t>
            </a:r>
            <a:endParaRPr lang="en-US" sz="4400" dirty="0">
              <a:ea typeface="ＭＳ Ｐゴシック"/>
            </a:endParaRPr>
          </a:p>
        </p:txBody>
      </p:sp>
      <p:sp>
        <p:nvSpPr>
          <p:cNvPr id="5" name="Rectangle 4">
            <a:extLst>
              <a:ext uri="{FF2B5EF4-FFF2-40B4-BE49-F238E27FC236}">
                <a16:creationId xmlns:a16="http://schemas.microsoft.com/office/drawing/2014/main" id="{DBDA20F7-422A-B049-A5E8-663C0E81B56F}"/>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A00764CF-B8E5-5CE6-B4D6-82965847F817}"/>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9</a:t>
            </a:fld>
            <a:endParaRPr kumimoji="1" lang="ja-JP" altLang="en-US"/>
          </a:p>
        </p:txBody>
      </p:sp>
    </p:spTree>
    <p:extLst>
      <p:ext uri="{BB962C8B-B14F-4D97-AF65-F5344CB8AC3E}">
        <p14:creationId xmlns:p14="http://schemas.microsoft.com/office/powerpoint/2010/main" val="3773431946"/>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85AA-EE0B-E251-679F-C2DFFAE7907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B13AE-6E6C-E486-66D0-258235053506}"/>
              </a:ext>
            </a:extLst>
          </p:cNvPr>
          <p:cNvSpPr>
            <a:spLocks noGrp="1"/>
          </p:cNvSpPr>
          <p:nvPr>
            <p:ph idx="1"/>
          </p:nvPr>
        </p:nvSpPr>
        <p:spPr>
          <a:xfrm>
            <a:off x="912797" y="1325216"/>
            <a:ext cx="10515600" cy="5234609"/>
          </a:xfrm>
        </p:spPr>
        <p:txBody>
          <a:bodyPr vert="horz" lIns="91440" tIns="45720" rIns="91440" bIns="45720" rtlCol="0" anchor="t">
            <a:normAutofit fontScale="92500" lnSpcReduction="10000"/>
          </a:bodyPr>
          <a:lstStyle/>
          <a:p>
            <a:pPr marL="0" indent="0">
              <a:buNone/>
            </a:pPr>
            <a:r>
              <a:rPr lang="ja-JP" altLang="en-US" dirty="0"/>
              <a:t>理想の形</a:t>
            </a:r>
            <a:endParaRPr lang="en-US" altLang="ja-JP" dirty="0"/>
          </a:p>
          <a:p>
            <a:pPr marL="0" indent="0">
              <a:buNone/>
            </a:pPr>
            <a:r>
              <a:rPr lang="en-US" altLang="ja-JP" dirty="0"/>
              <a:t>JR</a:t>
            </a:r>
            <a:r>
              <a:rPr lang="ja-JP" altLang="en-US" dirty="0"/>
              <a:t>と</a:t>
            </a:r>
            <a:r>
              <a:rPr lang="en-US" altLang="ja-JP" dirty="0"/>
              <a:t>JETS</a:t>
            </a:r>
            <a:r>
              <a:rPr lang="ja-JP" altLang="en-US" dirty="0"/>
              <a:t>でデータを共有</a:t>
            </a:r>
            <a:endParaRPr lang="en-US" altLang="ja-JP" dirty="0"/>
          </a:p>
          <a:p>
            <a:pPr marL="0" indent="0">
              <a:buNone/>
            </a:pPr>
            <a:endParaRPr lang="en-US" altLang="ja-JP" dirty="0"/>
          </a:p>
          <a:p>
            <a:pPr marL="0" indent="0">
              <a:buNone/>
            </a:pPr>
            <a:r>
              <a:rPr lang="ja-JP" altLang="en-US" dirty="0"/>
              <a:t>現状</a:t>
            </a:r>
            <a:endParaRPr lang="en-US" altLang="ja-JP" dirty="0"/>
          </a:p>
          <a:p>
            <a:pPr marL="0" indent="0">
              <a:buNone/>
            </a:pPr>
            <a:r>
              <a:rPr lang="ja-JP" altLang="en-US" dirty="0"/>
              <a:t>紙に印刷して共有</a:t>
            </a:r>
            <a:endParaRPr lang="en-US" altLang="ja-JP" dirty="0"/>
          </a:p>
          <a:p>
            <a:pPr marL="0" indent="0">
              <a:buNone/>
            </a:pPr>
            <a:endParaRPr lang="en-US" altLang="ja-JP" dirty="0"/>
          </a:p>
          <a:p>
            <a:pPr marL="0" indent="0">
              <a:buNone/>
            </a:pPr>
            <a:r>
              <a:rPr lang="ja-JP" altLang="en-US" dirty="0"/>
              <a:t>課題</a:t>
            </a:r>
            <a:endParaRPr lang="en-US" altLang="ja-JP" dirty="0"/>
          </a:p>
          <a:p>
            <a:pPr marL="0" indent="0">
              <a:buNone/>
            </a:pPr>
            <a:r>
              <a:rPr lang="en-US" altLang="ja-JP" dirty="0"/>
              <a:t>JETS</a:t>
            </a:r>
            <a:r>
              <a:rPr lang="ja-JP" altLang="en-US" dirty="0"/>
              <a:t>は</a:t>
            </a:r>
            <a:r>
              <a:rPr lang="en-US" altLang="ja-JP" dirty="0"/>
              <a:t>Teams</a:t>
            </a:r>
            <a:r>
              <a:rPr lang="ja-JP" altLang="en-US" dirty="0"/>
              <a:t>や</a:t>
            </a:r>
            <a:r>
              <a:rPr lang="en-US" altLang="ja-JP" dirty="0"/>
              <a:t>Box</a:t>
            </a:r>
            <a:r>
              <a:rPr lang="ja-JP" altLang="en-US" dirty="0"/>
              <a:t>は使用不可</a:t>
            </a:r>
            <a:endParaRPr lang="en-US" altLang="ja-JP" dirty="0"/>
          </a:p>
          <a:p>
            <a:pPr marL="0" indent="0">
              <a:buNone/>
            </a:pPr>
            <a:endParaRPr lang="en-US" altLang="ja-JP" dirty="0"/>
          </a:p>
          <a:p>
            <a:pPr marL="0" indent="0">
              <a:buNone/>
            </a:pPr>
            <a:r>
              <a:rPr lang="ja-JP" altLang="en-US" dirty="0"/>
              <a:t>解決策</a:t>
            </a:r>
            <a:endParaRPr lang="en-US" altLang="ja-JP" dirty="0"/>
          </a:p>
          <a:p>
            <a:pPr marL="0" indent="0">
              <a:buNone/>
            </a:pPr>
            <a:r>
              <a:rPr lang="en-US" altLang="ja-JP" dirty="0"/>
              <a:t>JR</a:t>
            </a:r>
            <a:r>
              <a:rPr lang="ja-JP" altLang="en-US" dirty="0"/>
              <a:t>からの運用表データ、</a:t>
            </a:r>
            <a:r>
              <a:rPr lang="en-US" altLang="ja-JP" dirty="0"/>
              <a:t>JETS</a:t>
            </a:r>
            <a:r>
              <a:rPr lang="ja-JP" altLang="en-US" dirty="0"/>
              <a:t>からの構内入換計画表のデータをメールで共有</a:t>
            </a:r>
            <a:endParaRPr lang="en-US" altLang="ja-JP" dirty="0"/>
          </a:p>
          <a:p>
            <a:pPr marL="0" indent="0">
              <a:buNone/>
            </a:pPr>
            <a:endParaRPr lang="en-US" altLang="ja-JP" dirty="0"/>
          </a:p>
          <a:p>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F3929302-C6CA-0744-34AA-B0AB2B43E13A}"/>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着目した業務（取り組み内容）③</a:t>
            </a:r>
            <a:endParaRPr lang="en-US" sz="4400" dirty="0">
              <a:ea typeface="ＭＳ Ｐゴシック"/>
            </a:endParaRPr>
          </a:p>
        </p:txBody>
      </p:sp>
      <p:sp>
        <p:nvSpPr>
          <p:cNvPr id="5" name="Rectangle 4">
            <a:extLst>
              <a:ext uri="{FF2B5EF4-FFF2-40B4-BE49-F238E27FC236}">
                <a16:creationId xmlns:a16="http://schemas.microsoft.com/office/drawing/2014/main" id="{8658B389-55C2-AE8D-E3F8-680387A0D636}"/>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A231990E-22CD-7AD7-AB9C-9CA6555E846C}"/>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10</a:t>
            </a:fld>
            <a:endParaRPr kumimoji="1" lang="ja-JP" altLang="en-US"/>
          </a:p>
        </p:txBody>
      </p:sp>
    </p:spTree>
    <p:extLst>
      <p:ext uri="{BB962C8B-B14F-4D97-AF65-F5344CB8AC3E}">
        <p14:creationId xmlns:p14="http://schemas.microsoft.com/office/powerpoint/2010/main" val="3938307756"/>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430F-4E7D-704C-4C18-4698FAE321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F85A8-C10F-3721-D527-54645CFFA483}"/>
              </a:ext>
            </a:extLst>
          </p:cNvPr>
          <p:cNvSpPr>
            <a:spLocks noGrp="1"/>
          </p:cNvSpPr>
          <p:nvPr>
            <p:ph idx="1"/>
          </p:nvPr>
        </p:nvSpPr>
        <p:spPr>
          <a:xfrm>
            <a:off x="912797" y="1325216"/>
            <a:ext cx="10515600" cy="5234609"/>
          </a:xfrm>
        </p:spPr>
        <p:txBody>
          <a:bodyPr vert="horz" lIns="91440" tIns="45720" rIns="91440" bIns="45720" rtlCol="0" anchor="t">
            <a:normAutofit/>
          </a:bodyPr>
          <a:lstStyle/>
          <a:p>
            <a:pPr marL="0" indent="0">
              <a:buNone/>
            </a:pPr>
            <a:r>
              <a:rPr lang="ja-JP" altLang="en-US" dirty="0"/>
              <a:t>理想の形</a:t>
            </a:r>
            <a:endParaRPr lang="en-US" altLang="ja-JP" dirty="0"/>
          </a:p>
          <a:p>
            <a:pPr marL="0" indent="0">
              <a:buNone/>
            </a:pPr>
            <a:r>
              <a:rPr lang="ja-JP" altLang="en-US" dirty="0"/>
              <a:t>出区表自動作成</a:t>
            </a:r>
            <a:endParaRPr lang="en-US" altLang="ja-JP" dirty="0"/>
          </a:p>
          <a:p>
            <a:pPr marL="0" indent="0">
              <a:buNone/>
            </a:pPr>
            <a:endParaRPr lang="en-US" altLang="ja-JP" dirty="0"/>
          </a:p>
          <a:p>
            <a:pPr marL="0" indent="0">
              <a:buNone/>
            </a:pPr>
            <a:r>
              <a:rPr lang="ja-JP" altLang="en-US" dirty="0"/>
              <a:t>現状</a:t>
            </a:r>
            <a:endParaRPr lang="en-US" altLang="ja-JP" dirty="0"/>
          </a:p>
          <a:p>
            <a:pPr marL="0" indent="0">
              <a:buNone/>
            </a:pPr>
            <a:r>
              <a:rPr lang="en-US" altLang="ja-JP" dirty="0"/>
              <a:t>JETS</a:t>
            </a:r>
            <a:r>
              <a:rPr lang="ja-JP" altLang="en-US" dirty="0"/>
              <a:t>から紙で共有された構内入換計画表から手打ちで作成</a:t>
            </a:r>
            <a:endParaRPr lang="en-US" altLang="ja-JP" dirty="0"/>
          </a:p>
          <a:p>
            <a:pPr marL="0" indent="0">
              <a:buNone/>
            </a:pPr>
            <a:endParaRPr lang="en-US" altLang="ja-JP" dirty="0"/>
          </a:p>
          <a:p>
            <a:pPr marL="0" indent="0">
              <a:buNone/>
            </a:pPr>
            <a:r>
              <a:rPr lang="ja-JP" altLang="en-US" dirty="0"/>
              <a:t>解決策</a:t>
            </a:r>
            <a:endParaRPr lang="en-US" altLang="ja-JP" dirty="0"/>
          </a:p>
          <a:p>
            <a:pPr marL="0" indent="0">
              <a:buNone/>
            </a:pPr>
            <a:r>
              <a:rPr lang="en-US" altLang="ja-JP" dirty="0"/>
              <a:t>JETS</a:t>
            </a:r>
            <a:r>
              <a:rPr lang="ja-JP" altLang="en-US" dirty="0"/>
              <a:t>からメールで共有された構内入換計画表を基に</a:t>
            </a:r>
            <a:r>
              <a:rPr lang="en-US" altLang="ja-JP" dirty="0"/>
              <a:t>Excel</a:t>
            </a:r>
            <a:r>
              <a:rPr lang="ja-JP" altLang="en-US" dirty="0"/>
              <a:t>のマクロで自動作成・チェック機能付き</a:t>
            </a:r>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3D7FA6B0-E8EF-4368-1F97-9B717B35E816}"/>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着目した業務（取り組み内容）④</a:t>
            </a:r>
            <a:endParaRPr lang="en-US" sz="4400" dirty="0">
              <a:ea typeface="ＭＳ Ｐゴシック"/>
            </a:endParaRPr>
          </a:p>
        </p:txBody>
      </p:sp>
      <p:sp>
        <p:nvSpPr>
          <p:cNvPr id="5" name="Rectangle 4">
            <a:extLst>
              <a:ext uri="{FF2B5EF4-FFF2-40B4-BE49-F238E27FC236}">
                <a16:creationId xmlns:a16="http://schemas.microsoft.com/office/drawing/2014/main" id="{3B8EF371-45E9-8D9A-69F0-98FB0054935E}"/>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A525257E-68D0-0550-AC68-3E3BD7021ABA}"/>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11</a:t>
            </a:fld>
            <a:endParaRPr kumimoji="1" lang="ja-JP" altLang="en-US"/>
          </a:p>
        </p:txBody>
      </p:sp>
    </p:spTree>
    <p:extLst>
      <p:ext uri="{BB962C8B-B14F-4D97-AF65-F5344CB8AC3E}">
        <p14:creationId xmlns:p14="http://schemas.microsoft.com/office/powerpoint/2010/main" val="149049288"/>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2EF42-BD7D-6408-7878-6C438F1C2B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C0493-37C5-553C-A871-C3FC2BD78544}"/>
              </a:ext>
            </a:extLst>
          </p:cNvPr>
          <p:cNvSpPr>
            <a:spLocks noGrp="1"/>
          </p:cNvSpPr>
          <p:nvPr>
            <p:ph idx="1"/>
          </p:nvPr>
        </p:nvSpPr>
        <p:spPr>
          <a:xfrm>
            <a:off x="912797" y="1325216"/>
            <a:ext cx="10515600" cy="5234609"/>
          </a:xfrm>
        </p:spPr>
        <p:txBody>
          <a:bodyPr vert="horz" lIns="91440" tIns="45720" rIns="91440" bIns="45720" rtlCol="0" anchor="t">
            <a:normAutofit/>
          </a:bodyPr>
          <a:lstStyle/>
          <a:p>
            <a:pPr marL="0" indent="0">
              <a:buNone/>
            </a:pPr>
            <a:r>
              <a:rPr lang="ja-JP" altLang="en-US" dirty="0"/>
              <a:t>現状のフロー全体　〇分</a:t>
            </a:r>
            <a:endParaRPr lang="en-US" altLang="ja-JP" dirty="0"/>
          </a:p>
          <a:p>
            <a:pPr marL="0" indent="0">
              <a:buNone/>
            </a:pPr>
            <a:endParaRPr lang="en-US" altLang="ja-JP" dirty="0"/>
          </a:p>
          <a:p>
            <a:pPr marL="0" indent="0">
              <a:buNone/>
            </a:pPr>
            <a:r>
              <a:rPr lang="ja-JP" altLang="en-US" dirty="0"/>
              <a:t>↓</a:t>
            </a:r>
            <a:endParaRPr lang="en-US" altLang="ja-JP" dirty="0"/>
          </a:p>
          <a:p>
            <a:pPr marL="0" indent="0">
              <a:buNone/>
            </a:pPr>
            <a:endParaRPr lang="en-US" altLang="ja-JP" dirty="0"/>
          </a:p>
          <a:p>
            <a:pPr marL="0" indent="0">
              <a:buNone/>
            </a:pPr>
            <a:r>
              <a:rPr lang="ja-JP" altLang="en-US" dirty="0"/>
              <a:t>期待できる短縮時分　〇分</a:t>
            </a: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46C9A2AB-523C-81C8-5F8B-781D1BB5759A}"/>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効果測定</a:t>
            </a:r>
            <a:endParaRPr lang="en-US" sz="4400" dirty="0">
              <a:ea typeface="ＭＳ Ｐゴシック"/>
            </a:endParaRPr>
          </a:p>
        </p:txBody>
      </p:sp>
      <p:sp>
        <p:nvSpPr>
          <p:cNvPr id="5" name="Rectangle 4">
            <a:extLst>
              <a:ext uri="{FF2B5EF4-FFF2-40B4-BE49-F238E27FC236}">
                <a16:creationId xmlns:a16="http://schemas.microsoft.com/office/drawing/2014/main" id="{F893A30A-FEA7-7DD1-8C09-F04F9D7019AA}"/>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39730C8E-99B4-0010-C06B-78A1B2D478C2}"/>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12</a:t>
            </a:fld>
            <a:endParaRPr kumimoji="1" lang="ja-JP" altLang="en-US"/>
          </a:p>
        </p:txBody>
      </p:sp>
    </p:spTree>
    <p:extLst>
      <p:ext uri="{BB962C8B-B14F-4D97-AF65-F5344CB8AC3E}">
        <p14:creationId xmlns:p14="http://schemas.microsoft.com/office/powerpoint/2010/main" val="93346398"/>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3BB07-AF07-682A-90A7-AFFA4EDD67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C89548-BB1A-CAA5-6212-C6A0D5438459}"/>
              </a:ext>
            </a:extLst>
          </p:cNvPr>
          <p:cNvSpPr>
            <a:spLocks noGrp="1"/>
          </p:cNvSpPr>
          <p:nvPr>
            <p:ph idx="1"/>
          </p:nvPr>
        </p:nvSpPr>
        <p:spPr>
          <a:xfrm>
            <a:off x="912797" y="1506574"/>
            <a:ext cx="10515600" cy="4351338"/>
          </a:xfrm>
        </p:spPr>
        <p:txBody>
          <a:bodyPr vert="horz" lIns="91440" tIns="45720" rIns="91440" bIns="45720" rtlCol="0" anchor="t">
            <a:normAutofit/>
          </a:bodyPr>
          <a:lstStyle/>
          <a:p>
            <a:pPr marL="0" indent="0">
              <a:buNone/>
            </a:pPr>
            <a:r>
              <a:rPr lang="ja-JP" altLang="en-US" dirty="0">
                <a:ea typeface="ＭＳ Ｐゴシック"/>
              </a:rPr>
              <a:t>国府津車両ベース</a:t>
            </a:r>
            <a:endParaRPr lang="en-US" altLang="ja-JP" dirty="0">
              <a:ea typeface="ＭＳ Ｐゴシック"/>
            </a:endParaRPr>
          </a:p>
          <a:p>
            <a:pPr marL="0" indent="0">
              <a:buNone/>
            </a:pPr>
            <a:r>
              <a:rPr lang="ja-JP" altLang="en-US" dirty="0">
                <a:ea typeface="ＭＳ Ｐゴシック"/>
              </a:rPr>
              <a:t>→見学計画中</a:t>
            </a:r>
          </a:p>
        </p:txBody>
      </p:sp>
      <p:sp>
        <p:nvSpPr>
          <p:cNvPr id="4" name="Rectangle 3">
            <a:extLst>
              <a:ext uri="{FF2B5EF4-FFF2-40B4-BE49-F238E27FC236}">
                <a16:creationId xmlns:a16="http://schemas.microsoft.com/office/drawing/2014/main" id="{E4C97306-A6C8-6A8E-49F2-2E1B89E4C9D2}"/>
              </a:ext>
            </a:extLst>
          </p:cNvPr>
          <p:cNvSpPr/>
          <p:nvPr/>
        </p:nvSpPr>
        <p:spPr>
          <a:xfrm>
            <a:off x="0" y="10301"/>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他車両ベースの</a:t>
            </a:r>
            <a:r>
              <a:rPr lang="en-US" altLang="ja-JP" sz="4400" dirty="0">
                <a:ea typeface="ＭＳ Ｐゴシック"/>
              </a:rPr>
              <a:t>DX</a:t>
            </a:r>
            <a:r>
              <a:rPr lang="ja-JP" altLang="en-US" sz="4400" dirty="0">
                <a:ea typeface="ＭＳ Ｐゴシック"/>
              </a:rPr>
              <a:t>による業務効率化例</a:t>
            </a:r>
            <a:endParaRPr lang="en-US" sz="3200" dirty="0">
              <a:ea typeface="ＭＳ Ｐゴシック"/>
            </a:endParaRPr>
          </a:p>
        </p:txBody>
      </p:sp>
      <p:sp>
        <p:nvSpPr>
          <p:cNvPr id="5" name="Rectangle 4">
            <a:extLst>
              <a:ext uri="{FF2B5EF4-FFF2-40B4-BE49-F238E27FC236}">
                <a16:creationId xmlns:a16="http://schemas.microsoft.com/office/drawing/2014/main" id="{56E829EE-6ACE-C03C-0DCD-C3A15C16254F}"/>
              </a:ext>
            </a:extLst>
          </p:cNvPr>
          <p:cNvSpPr/>
          <p:nvPr/>
        </p:nvSpPr>
        <p:spPr>
          <a:xfrm>
            <a:off x="0" y="936147"/>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6C2DBA6-869F-A768-D318-6FFF2EC71AD5}"/>
              </a:ext>
            </a:extLst>
          </p:cNvPr>
          <p:cNvSpPr/>
          <p:nvPr/>
        </p:nvSpPr>
        <p:spPr>
          <a:xfrm>
            <a:off x="763603" y="5857912"/>
            <a:ext cx="10515600" cy="868031"/>
          </a:xfrm>
          <a:prstGeom prst="rect">
            <a:avLst/>
          </a:prstGeom>
          <a:solidFill>
            <a:schemeClr val="accent2">
              <a:lumMod val="20000"/>
              <a:lumOff val="80000"/>
            </a:schemeClr>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800" dirty="0">
              <a:solidFill>
                <a:schemeClr val="tx1"/>
              </a:solidFill>
              <a:ea typeface="ＭＳ Ｐゴシック"/>
            </a:endParaRPr>
          </a:p>
        </p:txBody>
      </p:sp>
      <p:sp>
        <p:nvSpPr>
          <p:cNvPr id="11" name="スライド番号プレースホルダー 10">
            <a:extLst>
              <a:ext uri="{FF2B5EF4-FFF2-40B4-BE49-F238E27FC236}">
                <a16:creationId xmlns:a16="http://schemas.microsoft.com/office/drawing/2014/main" id="{96839C46-07E0-1DDB-CC13-94C5CB63DE1E}"/>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13</a:t>
            </a:fld>
            <a:endParaRPr kumimoji="1" lang="ja-JP" altLang="en-US"/>
          </a:p>
        </p:txBody>
      </p:sp>
    </p:spTree>
    <p:extLst>
      <p:ext uri="{BB962C8B-B14F-4D97-AF65-F5344CB8AC3E}">
        <p14:creationId xmlns:p14="http://schemas.microsoft.com/office/powerpoint/2010/main" val="645106050"/>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E5BC-C2E0-DCA7-8187-F3C0D226A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3BB42-B6EE-465D-1746-6743CD1E14D1}"/>
              </a:ext>
            </a:extLst>
          </p:cNvPr>
          <p:cNvSpPr>
            <a:spLocks noGrp="1"/>
          </p:cNvSpPr>
          <p:nvPr>
            <p:ph type="title"/>
          </p:nvPr>
        </p:nvSpPr>
        <p:spPr/>
        <p:txBody>
          <a:bodyPr/>
          <a:lstStyle/>
          <a:p>
            <a:endParaRPr lang="ja-JP" altLang="en-US">
              <a:ea typeface="ＭＳ Ｐゴシック"/>
            </a:endParaRPr>
          </a:p>
        </p:txBody>
      </p:sp>
      <p:sp>
        <p:nvSpPr>
          <p:cNvPr id="3" name="Content Placeholder 2">
            <a:extLst>
              <a:ext uri="{FF2B5EF4-FFF2-40B4-BE49-F238E27FC236}">
                <a16:creationId xmlns:a16="http://schemas.microsoft.com/office/drawing/2014/main" id="{61028F65-A377-77F0-AF20-E3598DCD2875}"/>
              </a:ext>
            </a:extLst>
          </p:cNvPr>
          <p:cNvSpPr>
            <a:spLocks noGrp="1"/>
          </p:cNvSpPr>
          <p:nvPr>
            <p:ph idx="1"/>
          </p:nvPr>
        </p:nvSpPr>
        <p:spPr>
          <a:xfrm>
            <a:off x="894522" y="2238115"/>
            <a:ext cx="10515600" cy="4351338"/>
          </a:xfrm>
        </p:spPr>
        <p:txBody>
          <a:bodyPr vert="horz" lIns="91440" tIns="45720" rIns="91440" bIns="45720" rtlCol="0" anchor="t">
            <a:normAutofit/>
          </a:bodyPr>
          <a:lstStyle/>
          <a:p>
            <a:pPr marL="0" indent="0">
              <a:buNone/>
            </a:pPr>
            <a:r>
              <a:rPr lang="en-US" altLang="ja-JP" dirty="0">
                <a:ea typeface="ＭＳ Ｐゴシック"/>
              </a:rPr>
              <a:t>JR</a:t>
            </a:r>
            <a:r>
              <a:rPr lang="ja-JP" altLang="en-US" dirty="0">
                <a:ea typeface="ＭＳ Ｐゴシック"/>
              </a:rPr>
              <a:t>西日本の自動作成</a:t>
            </a:r>
            <a:endParaRPr lang="en-US" altLang="ja-JP" dirty="0">
              <a:ea typeface="ＭＳ Ｐゴシック"/>
            </a:endParaRPr>
          </a:p>
          <a:p>
            <a:pPr marL="0" indent="0">
              <a:buNone/>
            </a:pPr>
            <a:r>
              <a:rPr lang="ja-JP" altLang="en-US" dirty="0">
                <a:ea typeface="ＭＳ Ｐゴシック"/>
              </a:rPr>
              <a:t>→見学を計画中</a:t>
            </a:r>
          </a:p>
        </p:txBody>
      </p:sp>
      <p:sp>
        <p:nvSpPr>
          <p:cNvPr id="4" name="Rectangle 3">
            <a:extLst>
              <a:ext uri="{FF2B5EF4-FFF2-40B4-BE49-F238E27FC236}">
                <a16:creationId xmlns:a16="http://schemas.microsoft.com/office/drawing/2014/main" id="{1F8E70AF-6311-67E9-8E9E-CEFCF87F56AA}"/>
              </a:ext>
            </a:extLst>
          </p:cNvPr>
          <p:cNvSpPr/>
          <p:nvPr/>
        </p:nvSpPr>
        <p:spPr>
          <a:xfrm>
            <a:off x="0" y="10301"/>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他企業の</a:t>
            </a:r>
            <a:r>
              <a:rPr lang="en-US" altLang="ja-JP" sz="4400" dirty="0">
                <a:ea typeface="ＭＳ Ｐゴシック"/>
              </a:rPr>
              <a:t>DX</a:t>
            </a:r>
            <a:r>
              <a:rPr lang="ja-JP" altLang="en-US" sz="4400" dirty="0">
                <a:ea typeface="ＭＳ Ｐゴシック"/>
              </a:rPr>
              <a:t>による業務効率化例</a:t>
            </a:r>
            <a:endParaRPr lang="en-US" sz="3200" dirty="0">
              <a:ea typeface="ＭＳ Ｐゴシック"/>
            </a:endParaRPr>
          </a:p>
        </p:txBody>
      </p:sp>
      <p:sp>
        <p:nvSpPr>
          <p:cNvPr id="5" name="Rectangle 4">
            <a:extLst>
              <a:ext uri="{FF2B5EF4-FFF2-40B4-BE49-F238E27FC236}">
                <a16:creationId xmlns:a16="http://schemas.microsoft.com/office/drawing/2014/main" id="{35603EEC-10B3-8391-408E-F18C23BA9335}"/>
              </a:ext>
            </a:extLst>
          </p:cNvPr>
          <p:cNvSpPr/>
          <p:nvPr/>
        </p:nvSpPr>
        <p:spPr>
          <a:xfrm>
            <a:off x="0" y="981355"/>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E0E0B9-3167-124D-E911-BE59CF3ACC5D}"/>
              </a:ext>
            </a:extLst>
          </p:cNvPr>
          <p:cNvSpPr/>
          <p:nvPr/>
        </p:nvSpPr>
        <p:spPr>
          <a:xfrm>
            <a:off x="763603" y="5857912"/>
            <a:ext cx="10515600" cy="868031"/>
          </a:xfrm>
          <a:prstGeom prst="rect">
            <a:avLst/>
          </a:prstGeom>
          <a:solidFill>
            <a:schemeClr val="accent2">
              <a:lumMod val="20000"/>
              <a:lumOff val="80000"/>
            </a:schemeClr>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800" dirty="0">
              <a:solidFill>
                <a:schemeClr val="tx1"/>
              </a:solidFill>
              <a:ea typeface="ＭＳ Ｐゴシック"/>
            </a:endParaRPr>
          </a:p>
        </p:txBody>
      </p:sp>
      <p:sp>
        <p:nvSpPr>
          <p:cNvPr id="11" name="スライド番号プレースホルダー 10">
            <a:extLst>
              <a:ext uri="{FF2B5EF4-FFF2-40B4-BE49-F238E27FC236}">
                <a16:creationId xmlns:a16="http://schemas.microsoft.com/office/drawing/2014/main" id="{E27FF545-D962-3D79-4B43-0FBE45D51C9F}"/>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14</a:t>
            </a:fld>
            <a:endParaRPr kumimoji="1" lang="ja-JP" altLang="en-US"/>
          </a:p>
        </p:txBody>
      </p:sp>
    </p:spTree>
    <p:extLst>
      <p:ext uri="{BB962C8B-B14F-4D97-AF65-F5344CB8AC3E}">
        <p14:creationId xmlns:p14="http://schemas.microsoft.com/office/powerpoint/2010/main" val="2930025270"/>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2B6E-3C31-11EB-2B64-73D7056D4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1D45C-36DF-B519-FC81-BA921B4B549D}"/>
              </a:ext>
            </a:extLst>
          </p:cNvPr>
          <p:cNvSpPr>
            <a:spLocks noGrp="1"/>
          </p:cNvSpPr>
          <p:nvPr>
            <p:ph type="title"/>
          </p:nvPr>
        </p:nvSpPr>
        <p:spPr/>
        <p:txBody>
          <a:bodyPr/>
          <a:lstStyle/>
          <a:p>
            <a:r>
              <a:rPr lang="ja-JP" altLang="en-US" dirty="0">
                <a:ea typeface="ＭＳ Ｐゴシック"/>
              </a:rPr>
              <a:t>７</a:t>
            </a:r>
          </a:p>
        </p:txBody>
      </p:sp>
      <p:sp>
        <p:nvSpPr>
          <p:cNvPr id="4" name="Rectangle 3">
            <a:extLst>
              <a:ext uri="{FF2B5EF4-FFF2-40B4-BE49-F238E27FC236}">
                <a16:creationId xmlns:a16="http://schemas.microsoft.com/office/drawing/2014/main" id="{FCB03962-4237-5C9B-5C4A-024C6ED2EA22}"/>
              </a:ext>
            </a:extLst>
          </p:cNvPr>
          <p:cNvSpPr/>
          <p:nvPr/>
        </p:nvSpPr>
        <p:spPr>
          <a:xfrm>
            <a:off x="0" y="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今後の流れ</a:t>
            </a:r>
            <a:endParaRPr lang="en-US" sz="4400" dirty="0">
              <a:ea typeface="ＭＳ Ｐゴシック"/>
            </a:endParaRPr>
          </a:p>
        </p:txBody>
      </p:sp>
      <p:sp>
        <p:nvSpPr>
          <p:cNvPr id="5" name="Rectangle 4">
            <a:extLst>
              <a:ext uri="{FF2B5EF4-FFF2-40B4-BE49-F238E27FC236}">
                <a16:creationId xmlns:a16="http://schemas.microsoft.com/office/drawing/2014/main" id="{44A80E0B-A437-4BC8-3497-466F157D3148}"/>
              </a:ext>
            </a:extLst>
          </p:cNvPr>
          <p:cNvSpPr/>
          <p:nvPr/>
        </p:nvSpPr>
        <p:spPr>
          <a:xfrm>
            <a:off x="0" y="982322"/>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ECAA8BDA-D43B-5BEC-AC90-61621AA21049}"/>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15</a:t>
            </a:fld>
            <a:endParaRPr kumimoji="1" lang="ja-JP" altLang="en-US"/>
          </a:p>
        </p:txBody>
      </p:sp>
      <p:sp>
        <p:nvSpPr>
          <p:cNvPr id="6" name="矢印: 右 5">
            <a:extLst>
              <a:ext uri="{FF2B5EF4-FFF2-40B4-BE49-F238E27FC236}">
                <a16:creationId xmlns:a16="http://schemas.microsoft.com/office/drawing/2014/main" id="{06716E92-739E-2FA8-AF5F-A1FAC81ABFB0}"/>
              </a:ext>
            </a:extLst>
          </p:cNvPr>
          <p:cNvSpPr/>
          <p:nvPr/>
        </p:nvSpPr>
        <p:spPr>
          <a:xfrm>
            <a:off x="331304" y="2001078"/>
            <a:ext cx="11184835" cy="914400"/>
          </a:xfrm>
          <a:prstGeom prs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22D4007-DEE2-0BB3-7E80-F56B628D94F2}"/>
              </a:ext>
            </a:extLst>
          </p:cNvPr>
          <p:cNvSpPr/>
          <p:nvPr/>
        </p:nvSpPr>
        <p:spPr>
          <a:xfrm>
            <a:off x="424070" y="3074504"/>
            <a:ext cx="3286539" cy="1219200"/>
          </a:xfrm>
          <a:prstGeom prst="roundRect">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８</a:t>
            </a:r>
            <a:r>
              <a:rPr kumimoji="1" lang="ja-JP" altLang="en-US" dirty="0">
                <a:solidFill>
                  <a:schemeClr val="tx1"/>
                </a:solidFill>
              </a:rPr>
              <a:t>月</a:t>
            </a:r>
          </a:p>
        </p:txBody>
      </p:sp>
    </p:spTree>
    <p:extLst>
      <p:ext uri="{BB962C8B-B14F-4D97-AF65-F5344CB8AC3E}">
        <p14:creationId xmlns:p14="http://schemas.microsoft.com/office/powerpoint/2010/main" val="2318065168"/>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BBD60-717C-C2A1-EEFD-6C08D527C7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2AA5E82-C515-7184-24B6-3B0778CAA95B}"/>
              </a:ext>
            </a:extLst>
          </p:cNvPr>
          <p:cNvSpPr/>
          <p:nvPr/>
        </p:nvSpPr>
        <p:spPr>
          <a:xfrm>
            <a:off x="0" y="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参考：</a:t>
            </a:r>
            <a:r>
              <a:rPr lang="en-US" altLang="ja-JP" sz="4400" dirty="0">
                <a:ea typeface="ＭＳ Ｐゴシック"/>
              </a:rPr>
              <a:t>SCORE</a:t>
            </a:r>
            <a:r>
              <a:rPr lang="ja-JP" altLang="en-US" sz="4400" dirty="0">
                <a:ea typeface="ＭＳ Ｐゴシック"/>
              </a:rPr>
              <a:t>とは</a:t>
            </a:r>
            <a:endParaRPr lang="en-US" sz="3200" dirty="0">
              <a:ea typeface="ＭＳ Ｐゴシック"/>
            </a:endParaRPr>
          </a:p>
        </p:txBody>
      </p:sp>
      <p:sp>
        <p:nvSpPr>
          <p:cNvPr id="5" name="Rectangle 4">
            <a:extLst>
              <a:ext uri="{FF2B5EF4-FFF2-40B4-BE49-F238E27FC236}">
                <a16:creationId xmlns:a16="http://schemas.microsoft.com/office/drawing/2014/main" id="{560758FD-5B03-3E2F-7D9E-427EBB9E05E2}"/>
              </a:ext>
            </a:extLst>
          </p:cNvPr>
          <p:cNvSpPr/>
          <p:nvPr/>
        </p:nvSpPr>
        <p:spPr>
          <a:xfrm>
            <a:off x="0" y="925846"/>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48008C84-1815-7C13-B18F-A9D6DBE3E0EB}"/>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16</a:t>
            </a:fld>
            <a:endParaRPr kumimoji="1" lang="ja-JP" altLang="en-US"/>
          </a:p>
        </p:txBody>
      </p:sp>
      <p:sp>
        <p:nvSpPr>
          <p:cNvPr id="7" name="コンテンツ プレースホルダー 6">
            <a:extLst>
              <a:ext uri="{FF2B5EF4-FFF2-40B4-BE49-F238E27FC236}">
                <a16:creationId xmlns:a16="http://schemas.microsoft.com/office/drawing/2014/main" id="{57DCE72B-C25E-9B94-0F88-85B0D32DC5C5}"/>
              </a:ext>
            </a:extLst>
          </p:cNvPr>
          <p:cNvSpPr>
            <a:spLocks noGrp="1"/>
          </p:cNvSpPr>
          <p:nvPr>
            <p:ph idx="1"/>
          </p:nvPr>
        </p:nvSpPr>
        <p:spPr>
          <a:xfrm>
            <a:off x="838200" y="1290528"/>
            <a:ext cx="10515600" cy="5463799"/>
          </a:xfrm>
        </p:spPr>
        <p:txBody>
          <a:bodyPr>
            <a:normAutofit/>
          </a:bodyPr>
          <a:lstStyle/>
          <a:p>
            <a:pPr marL="0" indent="0">
              <a:buNone/>
            </a:pPr>
            <a:r>
              <a:rPr lang="ja-JP" altLang="en-US" dirty="0"/>
              <a:t>* </a:t>
            </a:r>
            <a:r>
              <a:rPr lang="en-US" altLang="ja-JP" dirty="0"/>
              <a:t>Scale for Customer-Oriented Railway Evaluation </a:t>
            </a:r>
            <a:r>
              <a:rPr lang="ja-JP" altLang="en-US" dirty="0"/>
              <a:t>の略　</a:t>
            </a:r>
            <a:br>
              <a:rPr lang="ja-JP" altLang="en-US" dirty="0"/>
            </a:br>
            <a:r>
              <a:rPr lang="ja-JP" altLang="en-US" dirty="0"/>
              <a:t> </a:t>
            </a:r>
          </a:p>
          <a:p>
            <a:pPr marL="0" indent="0">
              <a:buNone/>
            </a:pPr>
            <a:r>
              <a:rPr lang="en-US" altLang="ja-JP" dirty="0"/>
              <a:t>SCORE</a:t>
            </a:r>
            <a:r>
              <a:rPr lang="ja-JP" altLang="en-US" dirty="0"/>
              <a:t>とは</a:t>
            </a:r>
            <a:r>
              <a:rPr lang="en-US" altLang="ja-JP" dirty="0"/>
              <a:t>: </a:t>
            </a:r>
            <a:r>
              <a:rPr lang="ja-JP" altLang="en-US" dirty="0"/>
              <a:t>　お客さま視点で輸送障害を定量的に把握する指標</a:t>
            </a:r>
          </a:p>
          <a:p>
            <a:pPr marL="0" indent="0">
              <a:buNone/>
            </a:pPr>
            <a:r>
              <a:rPr lang="ja-JP" altLang="en-US" dirty="0"/>
              <a:t>算出方法</a:t>
            </a:r>
            <a:r>
              <a:rPr lang="en-US" altLang="ja-JP" dirty="0"/>
              <a:t>: </a:t>
            </a:r>
            <a:r>
              <a:rPr lang="ja-JP" altLang="en-US" dirty="0"/>
              <a:t>　　輸送障害の影響を受けた線区を利用したお客さまの数とその損失時間</a:t>
            </a:r>
            <a:r>
              <a:rPr lang="en-US" altLang="ja-JP" dirty="0"/>
              <a:t>(**)</a:t>
            </a:r>
            <a:r>
              <a:rPr lang="ja-JP" altLang="en-US" dirty="0"/>
              <a:t>の総和を、</a:t>
            </a:r>
            <a:r>
              <a:rPr lang="en-US" altLang="ja-JP" dirty="0" err="1"/>
              <a:t>Suica</a:t>
            </a:r>
            <a:r>
              <a:rPr lang="ja-JP" altLang="en-US" dirty="0"/>
              <a:t>の入出場記録より算出する。</a:t>
            </a:r>
          </a:p>
          <a:p>
            <a:pPr marL="0" indent="0">
              <a:buNone/>
            </a:pPr>
            <a:r>
              <a:rPr lang="ja-JP" altLang="en-US" dirty="0"/>
              <a:t>　　　　　　　 </a:t>
            </a:r>
            <a:r>
              <a:rPr lang="ja-JP" altLang="en-US" sz="2200" dirty="0"/>
              <a:t> ** 損失時間は、通常の所要時分より多くかかった時間 </a:t>
            </a:r>
          </a:p>
          <a:p>
            <a:pPr marL="0" indent="0">
              <a:buNone/>
            </a:pPr>
            <a:r>
              <a:rPr lang="ja-JP" altLang="en-US" dirty="0"/>
              <a:t>数値イメージ</a:t>
            </a:r>
            <a:r>
              <a:rPr lang="en-US" altLang="ja-JP" dirty="0"/>
              <a:t>: </a:t>
            </a:r>
            <a:r>
              <a:rPr lang="ja-JP" altLang="en-US" dirty="0"/>
              <a:t>　</a:t>
            </a:r>
            <a:r>
              <a:rPr lang="en-US" altLang="ja-JP" dirty="0"/>
              <a:t>SCORE 6.0</a:t>
            </a:r>
            <a:r>
              <a:rPr lang="ja-JP" altLang="en-US" dirty="0"/>
              <a:t>は、「</a:t>
            </a:r>
            <a:r>
              <a:rPr lang="en-US" altLang="ja-JP" dirty="0"/>
              <a:t>100</a:t>
            </a:r>
            <a:r>
              <a:rPr lang="ja-JP" altLang="en-US" dirty="0"/>
              <a:t>万人・分」に相当（通常より移動に</a:t>
            </a:r>
            <a:r>
              <a:rPr lang="en-US" altLang="ja-JP" dirty="0"/>
              <a:t>1</a:t>
            </a:r>
            <a:r>
              <a:rPr lang="ja-JP" altLang="en-US" dirty="0"/>
              <a:t>人平均</a:t>
            </a:r>
            <a:r>
              <a:rPr lang="en-US" altLang="ja-JP" dirty="0"/>
              <a:t>20</a:t>
            </a:r>
            <a:r>
              <a:rPr lang="ja-JP" altLang="en-US" dirty="0"/>
              <a:t>分多く時間がかかり、</a:t>
            </a:r>
            <a:r>
              <a:rPr lang="en-US" altLang="ja-JP" dirty="0"/>
              <a:t>5</a:t>
            </a:r>
            <a:r>
              <a:rPr lang="ja-JP" altLang="en-US" dirty="0"/>
              <a:t>万人のお客さまが影響を受けたことに相当）</a:t>
            </a:r>
          </a:p>
          <a:p>
            <a:pPr marL="0" indent="0">
              <a:buNone/>
            </a:pPr>
            <a:r>
              <a:rPr lang="ja-JP" altLang="en-US" dirty="0"/>
              <a:t>算出対象</a:t>
            </a:r>
            <a:r>
              <a:rPr lang="en-US" altLang="ja-JP" dirty="0"/>
              <a:t>:</a:t>
            </a:r>
            <a:r>
              <a:rPr lang="ja-JP" altLang="en-US" dirty="0"/>
              <a:t>　　東京</a:t>
            </a:r>
            <a:r>
              <a:rPr lang="en-US" altLang="ja-JP" dirty="0"/>
              <a:t>50km</a:t>
            </a:r>
            <a:r>
              <a:rPr lang="ja-JP" altLang="en-US" dirty="0"/>
              <a:t>圏内で</a:t>
            </a:r>
            <a:r>
              <a:rPr lang="en-US" altLang="ja-JP" dirty="0"/>
              <a:t>30</a:t>
            </a:r>
            <a:r>
              <a:rPr lang="ja-JP" altLang="en-US" dirty="0"/>
              <a:t>分以上（</a:t>
            </a:r>
            <a:r>
              <a:rPr lang="en-US" altLang="ja-JP" dirty="0"/>
              <a:t>50km</a:t>
            </a:r>
            <a:r>
              <a:rPr lang="ja-JP" altLang="en-US" dirty="0"/>
              <a:t>圏外は</a:t>
            </a:r>
            <a:r>
              <a:rPr lang="en-US" altLang="ja-JP" dirty="0"/>
              <a:t>60</a:t>
            </a:r>
            <a:r>
              <a:rPr lang="ja-JP" altLang="en-US" dirty="0"/>
              <a:t>分以上）の遅延、当該列車の運休（回送扱いを含む）が発生した事象</a:t>
            </a:r>
          </a:p>
          <a:p>
            <a:pPr marL="0" indent="0">
              <a:buNone/>
            </a:pPr>
            <a:r>
              <a:rPr lang="en-US" altLang="ja-JP" dirty="0">
                <a:hlinkClick r:id="rId3"/>
              </a:rPr>
              <a:t>Y3_02_SCORE</a:t>
            </a:r>
            <a:endParaRPr lang="en-US" altLang="ja-JP" dirty="0">
              <a:ea typeface="ＭＳ Ｐゴシック"/>
            </a:endParaRPr>
          </a:p>
          <a:p>
            <a:pPr marL="0" indent="0">
              <a:buNone/>
            </a:pPr>
            <a:endParaRPr lang="en-US" altLang="ja-JP" dirty="0">
              <a:ea typeface="ＭＳ Ｐゴシック"/>
            </a:endParaRPr>
          </a:p>
          <a:p>
            <a:pPr marL="0" indent="0">
              <a:buNone/>
            </a:pPr>
            <a:endParaRPr lang="ja-JP" altLang="en-US" dirty="0">
              <a:ea typeface="ＭＳ Ｐゴシック"/>
            </a:endParaRPr>
          </a:p>
          <a:p>
            <a:pPr marL="0" indent="0">
              <a:buNone/>
            </a:pPr>
            <a:endParaRPr lang="ja-JP" altLang="en-US" dirty="0"/>
          </a:p>
        </p:txBody>
      </p:sp>
    </p:spTree>
    <p:extLst>
      <p:ext uri="{BB962C8B-B14F-4D97-AF65-F5344CB8AC3E}">
        <p14:creationId xmlns:p14="http://schemas.microsoft.com/office/powerpoint/2010/main" val="3986745768"/>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1A5DD0-A904-7B8F-EE73-18DC411765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4936D9-5482-004D-C157-6D00FEED44A7}"/>
              </a:ext>
            </a:extLst>
          </p:cNvPr>
          <p:cNvSpPr>
            <a:spLocks noGrp="1"/>
          </p:cNvSpPr>
          <p:nvPr>
            <p:ph idx="1"/>
          </p:nvPr>
        </p:nvSpPr>
        <p:spPr>
          <a:xfrm>
            <a:off x="912797" y="1325217"/>
            <a:ext cx="10515600" cy="4888162"/>
          </a:xfrm>
        </p:spPr>
        <p:txBody>
          <a:bodyPr vert="horz" lIns="91440" tIns="45720" rIns="91440" bIns="45720" rtlCol="0" anchor="t">
            <a:normAutofit/>
          </a:bodyPr>
          <a:lstStyle/>
          <a:p>
            <a:r>
              <a:rPr lang="ja-JP" altLang="en-US" dirty="0"/>
              <a:t>フローの中で</a:t>
            </a:r>
            <a:r>
              <a:rPr lang="ja-JP" altLang="ja-JP" dirty="0"/>
              <a:t>効率化できる業務を探した</a:t>
            </a:r>
            <a:endParaRPr lang="en-US" altLang="ja-JP" dirty="0"/>
          </a:p>
          <a:p>
            <a:pPr marL="0" indent="0">
              <a:buNone/>
            </a:pPr>
            <a:r>
              <a:rPr lang="ja-JP" altLang="en-US" dirty="0"/>
              <a:t>↓</a:t>
            </a:r>
            <a:endParaRPr lang="en-US" altLang="ja-JP" dirty="0"/>
          </a:p>
          <a:p>
            <a:pPr marL="0" indent="0">
              <a:buNone/>
            </a:pPr>
            <a:r>
              <a:rPr lang="en-US" altLang="ja-JP" dirty="0"/>
              <a:t>JETS</a:t>
            </a:r>
            <a:r>
              <a:rPr lang="ja-JP" altLang="en-US" dirty="0"/>
              <a:t>との情報共有・出区表自動作成</a:t>
            </a:r>
            <a:endParaRPr lang="en-US" altLang="ja-JP" dirty="0"/>
          </a:p>
          <a:p>
            <a:pPr marL="0" indent="0">
              <a:buNone/>
            </a:pPr>
            <a:r>
              <a:rPr lang="ja-JP" altLang="en-US" dirty="0"/>
              <a:t>理由</a:t>
            </a:r>
            <a:endParaRPr lang="en-US" altLang="ja-JP" dirty="0"/>
          </a:p>
          <a:p>
            <a:r>
              <a:rPr lang="ja-JP" altLang="en-US" dirty="0"/>
              <a:t>出区表は相互の情報をもとに作成（清掃・仕業は運用表だけから作れる）</a:t>
            </a:r>
            <a:endParaRPr lang="en-US" altLang="ja-JP" dirty="0"/>
          </a:p>
          <a:p>
            <a:r>
              <a:rPr lang="ja-JP" altLang="en-US" dirty="0"/>
              <a:t>列車が乱れなくても日々必ず行う業務だから</a:t>
            </a:r>
          </a:p>
          <a:p>
            <a:r>
              <a:rPr lang="ja-JP" altLang="en-US" dirty="0"/>
              <a:t>運用表の</a:t>
            </a:r>
            <a:r>
              <a:rPr lang="en-US" altLang="ja-JP" dirty="0"/>
              <a:t>DX</a:t>
            </a:r>
            <a:r>
              <a:rPr lang="ja-JP" altLang="en-US" dirty="0"/>
              <a:t>化が職場内で既に始まっており、運用表を</a:t>
            </a:r>
            <a:r>
              <a:rPr lang="en-US" altLang="ja-JP" dirty="0"/>
              <a:t>JETS</a:t>
            </a:r>
            <a:r>
              <a:rPr lang="ja-JP" altLang="en-US" dirty="0"/>
              <a:t>と共有・</a:t>
            </a:r>
            <a:r>
              <a:rPr lang="en-US" altLang="ja-JP" dirty="0"/>
              <a:t>JETS</a:t>
            </a:r>
            <a:r>
              <a:rPr lang="ja-JP" altLang="en-US" dirty="0"/>
              <a:t>からの構内計画表の共有のスムーズ化を進めることで、職場内の運用表</a:t>
            </a:r>
            <a:r>
              <a:rPr lang="en-US" altLang="ja-JP" dirty="0"/>
              <a:t>DX</a:t>
            </a:r>
            <a:r>
              <a:rPr lang="ja-JP" altLang="en-US" dirty="0"/>
              <a:t>化の効果向上に貢献できるから</a:t>
            </a:r>
          </a:p>
          <a:p>
            <a:endParaRPr lang="en-US" altLang="ja-JP" dirty="0"/>
          </a:p>
          <a:p>
            <a:pPr marL="0" indent="0">
              <a:buNone/>
            </a:pPr>
            <a:endParaRPr lang="en-US" altLang="ja-JP" dirty="0"/>
          </a:p>
          <a:p>
            <a:pPr marL="0" indent="0">
              <a:buNone/>
            </a:pPr>
            <a:endParaRPr lang="ja-JP" altLang="ja-JP" dirty="0"/>
          </a:p>
          <a:p>
            <a:pPr marL="0" indent="0">
              <a:buNone/>
            </a:pPr>
            <a:endParaRPr lang="ja-JP" altLang="en-US" dirty="0">
              <a:ea typeface="ＭＳ Ｐゴシック"/>
            </a:endParaRPr>
          </a:p>
        </p:txBody>
      </p:sp>
      <p:sp>
        <p:nvSpPr>
          <p:cNvPr id="4" name="Rectangle 3">
            <a:extLst>
              <a:ext uri="{FF2B5EF4-FFF2-40B4-BE49-F238E27FC236}">
                <a16:creationId xmlns:a16="http://schemas.microsoft.com/office/drawing/2014/main" id="{C31AC974-5F1C-A9E6-813E-FBF39DA4B7FB}"/>
              </a:ext>
            </a:extLst>
          </p:cNvPr>
          <p:cNvSpPr/>
          <p:nvPr/>
        </p:nvSpPr>
        <p:spPr>
          <a:xfrm>
            <a:off x="0" y="-28280"/>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着目した業務（取り組み内容）</a:t>
            </a:r>
            <a:endParaRPr lang="en-US" sz="4400" dirty="0">
              <a:ea typeface="ＭＳ Ｐゴシック"/>
            </a:endParaRPr>
          </a:p>
        </p:txBody>
      </p:sp>
      <p:sp>
        <p:nvSpPr>
          <p:cNvPr id="5" name="Rectangle 4">
            <a:extLst>
              <a:ext uri="{FF2B5EF4-FFF2-40B4-BE49-F238E27FC236}">
                <a16:creationId xmlns:a16="http://schemas.microsoft.com/office/drawing/2014/main" id="{1F596DED-FD8E-9012-3EDB-4AA14F0DEF8D}"/>
              </a:ext>
            </a:extLst>
          </p:cNvPr>
          <p:cNvSpPr/>
          <p:nvPr/>
        </p:nvSpPr>
        <p:spPr>
          <a:xfrm>
            <a:off x="0" y="896433"/>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527D1C66-9466-2700-7AB1-01E43558ED64}"/>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17</a:t>
            </a:fld>
            <a:endParaRPr kumimoji="1" lang="ja-JP" altLang="en-US"/>
          </a:p>
        </p:txBody>
      </p:sp>
    </p:spTree>
    <p:extLst>
      <p:ext uri="{BB962C8B-B14F-4D97-AF65-F5344CB8AC3E}">
        <p14:creationId xmlns:p14="http://schemas.microsoft.com/office/powerpoint/2010/main" val="698465284"/>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436B35-D3CB-DCDA-882D-8FB824DC3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0AD64-52EB-1C60-891F-FFF35F160BD0}"/>
              </a:ext>
            </a:extLst>
          </p:cNvPr>
          <p:cNvSpPr>
            <a:spLocks noGrp="1"/>
          </p:cNvSpPr>
          <p:nvPr>
            <p:ph type="title"/>
          </p:nvPr>
        </p:nvSpPr>
        <p:spPr/>
        <p:txBody>
          <a:bodyPr/>
          <a:lstStyle/>
          <a:p>
            <a:endParaRPr lang="ja-JP" altLang="en-US">
              <a:ea typeface="ＭＳ Ｐゴシック"/>
            </a:endParaRPr>
          </a:p>
        </p:txBody>
      </p:sp>
      <p:sp>
        <p:nvSpPr>
          <p:cNvPr id="3" name="Content Placeholder 2">
            <a:extLst>
              <a:ext uri="{FF2B5EF4-FFF2-40B4-BE49-F238E27FC236}">
                <a16:creationId xmlns:a16="http://schemas.microsoft.com/office/drawing/2014/main" id="{05FC938D-7C41-0DE5-1671-9D108D8CB691}"/>
              </a:ext>
            </a:extLst>
          </p:cNvPr>
          <p:cNvSpPr>
            <a:spLocks noGrp="1"/>
          </p:cNvSpPr>
          <p:nvPr>
            <p:ph idx="1"/>
          </p:nvPr>
        </p:nvSpPr>
        <p:spPr>
          <a:xfrm>
            <a:off x="894522" y="2238115"/>
            <a:ext cx="10515600" cy="4351338"/>
          </a:xfrm>
        </p:spPr>
        <p:txBody>
          <a:bodyPr vert="horz" lIns="91440" tIns="45720" rIns="91440" bIns="45720" rtlCol="0" anchor="t">
            <a:normAutofit/>
          </a:bodyPr>
          <a:lstStyle/>
          <a:p>
            <a:pPr marL="0" indent="0">
              <a:buNone/>
            </a:pPr>
            <a:r>
              <a:rPr lang="en-US" altLang="ja-JP" dirty="0">
                <a:ea typeface="ＭＳ Ｐゴシック"/>
              </a:rPr>
              <a:t>Box</a:t>
            </a:r>
            <a:r>
              <a:rPr lang="ja-JP" altLang="en-US" dirty="0">
                <a:ea typeface="ＭＳ Ｐゴシック"/>
              </a:rPr>
              <a:t>：</a:t>
            </a:r>
            <a:r>
              <a:rPr lang="en-US" altLang="ja-JP" dirty="0">
                <a:ea typeface="ＭＳ Ｐゴシック"/>
              </a:rPr>
              <a:t>G</a:t>
            </a:r>
            <a:r>
              <a:rPr lang="ja-JP" altLang="en-US" dirty="0">
                <a:ea typeface="ＭＳ Ｐゴシック"/>
              </a:rPr>
              <a:t>会社と共同利用可能</a:t>
            </a:r>
            <a:endParaRPr lang="en-US" altLang="ja-JP" dirty="0">
              <a:ea typeface="ＭＳ Ｐゴシック"/>
            </a:endParaRPr>
          </a:p>
          <a:p>
            <a:pPr marL="0" indent="0">
              <a:buNone/>
            </a:pPr>
            <a:endParaRPr lang="en-US" altLang="ja-JP" dirty="0">
              <a:ea typeface="ＭＳ Ｐゴシック"/>
            </a:endParaRPr>
          </a:p>
          <a:p>
            <a:pPr marL="0" indent="0">
              <a:buNone/>
            </a:pPr>
            <a:endParaRPr lang="en-US" altLang="ja-JP" dirty="0">
              <a:ea typeface="ＭＳ Ｐゴシック"/>
            </a:endParaRPr>
          </a:p>
          <a:p>
            <a:pPr marL="0" indent="0">
              <a:buNone/>
            </a:pPr>
            <a:r>
              <a:rPr lang="ja-JP" altLang="en-US" dirty="0">
                <a:ea typeface="ＭＳ Ｐゴシック"/>
              </a:rPr>
              <a:t>自動化：</a:t>
            </a:r>
            <a:r>
              <a:rPr lang="en-US" altLang="ja-JP" dirty="0">
                <a:ea typeface="ＭＳ Ｐゴシック"/>
              </a:rPr>
              <a:t>Excel</a:t>
            </a:r>
            <a:r>
              <a:rPr lang="ja-JP" altLang="en-US" dirty="0">
                <a:ea typeface="ＭＳ Ｐゴシック"/>
              </a:rPr>
              <a:t>のマクロ</a:t>
            </a:r>
            <a:endParaRPr lang="en-US" altLang="ja-JP" dirty="0">
              <a:ea typeface="ＭＳ Ｐゴシック"/>
            </a:endParaRPr>
          </a:p>
          <a:p>
            <a:pPr marL="0" indent="0">
              <a:buNone/>
            </a:pPr>
            <a:r>
              <a:rPr lang="ja-JP" altLang="en-US" dirty="0">
                <a:ea typeface="ＭＳ Ｐゴシック"/>
              </a:rPr>
              <a:t>作成のために生成</a:t>
            </a:r>
            <a:r>
              <a:rPr lang="en-US" altLang="ja-JP" dirty="0">
                <a:ea typeface="ＭＳ Ｐゴシック"/>
              </a:rPr>
              <a:t>Ai</a:t>
            </a:r>
            <a:r>
              <a:rPr lang="ja-JP" altLang="en-US" dirty="0">
                <a:ea typeface="ＭＳ Ｐゴシック"/>
              </a:rPr>
              <a:t>を活用</a:t>
            </a:r>
            <a:endParaRPr lang="en-US" altLang="ja-JP" dirty="0">
              <a:ea typeface="ＭＳ Ｐゴシック"/>
            </a:endParaRPr>
          </a:p>
          <a:p>
            <a:pPr marL="0" indent="0">
              <a:buNone/>
            </a:pPr>
            <a:endParaRPr lang="en-US" altLang="ja-JP" dirty="0">
              <a:ea typeface="ＭＳ Ｐゴシック"/>
            </a:endParaRPr>
          </a:p>
          <a:p>
            <a:pPr marL="0" indent="0">
              <a:buNone/>
            </a:pPr>
            <a:endParaRPr lang="en-US" altLang="ja-JP" dirty="0"/>
          </a:p>
          <a:p>
            <a:pPr marL="0" indent="0">
              <a:buNone/>
            </a:pPr>
            <a:endParaRPr lang="ja-JP" altLang="ja-JP" dirty="0"/>
          </a:p>
        </p:txBody>
      </p:sp>
      <p:sp>
        <p:nvSpPr>
          <p:cNvPr id="4" name="Rectangle 3">
            <a:extLst>
              <a:ext uri="{FF2B5EF4-FFF2-40B4-BE49-F238E27FC236}">
                <a16:creationId xmlns:a16="http://schemas.microsoft.com/office/drawing/2014/main" id="{CF20DA24-4B65-2AF5-0FC1-016BCF5EFF3A}"/>
              </a:ext>
            </a:extLst>
          </p:cNvPr>
          <p:cNvSpPr/>
          <p:nvPr/>
        </p:nvSpPr>
        <p:spPr>
          <a:xfrm>
            <a:off x="0" y="331421"/>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解決手段について</a:t>
            </a:r>
            <a:endParaRPr lang="en-US" sz="3200" dirty="0">
              <a:ea typeface="ＭＳ Ｐゴシック"/>
            </a:endParaRPr>
          </a:p>
        </p:txBody>
      </p:sp>
      <p:sp>
        <p:nvSpPr>
          <p:cNvPr id="5" name="Rectangle 4">
            <a:extLst>
              <a:ext uri="{FF2B5EF4-FFF2-40B4-BE49-F238E27FC236}">
                <a16:creationId xmlns:a16="http://schemas.microsoft.com/office/drawing/2014/main" id="{B4C7E645-4580-AE3E-A507-25A615C58A98}"/>
              </a:ext>
            </a:extLst>
          </p:cNvPr>
          <p:cNvSpPr/>
          <p:nvPr/>
        </p:nvSpPr>
        <p:spPr>
          <a:xfrm>
            <a:off x="0" y="1234231"/>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FB8B30-D999-0FB9-90FA-BA015F4B6EE4}"/>
              </a:ext>
            </a:extLst>
          </p:cNvPr>
          <p:cNvSpPr/>
          <p:nvPr/>
        </p:nvSpPr>
        <p:spPr>
          <a:xfrm>
            <a:off x="763603" y="5857912"/>
            <a:ext cx="10515600" cy="868031"/>
          </a:xfrm>
          <a:prstGeom prst="rect">
            <a:avLst/>
          </a:prstGeom>
          <a:solidFill>
            <a:schemeClr val="accent2">
              <a:lumMod val="20000"/>
              <a:lumOff val="80000"/>
            </a:schemeClr>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800" dirty="0">
              <a:solidFill>
                <a:schemeClr val="tx1"/>
              </a:solidFill>
              <a:ea typeface="ＭＳ Ｐゴシック"/>
            </a:endParaRPr>
          </a:p>
        </p:txBody>
      </p:sp>
      <p:sp>
        <p:nvSpPr>
          <p:cNvPr id="11" name="スライド番号プレースホルダー 10">
            <a:extLst>
              <a:ext uri="{FF2B5EF4-FFF2-40B4-BE49-F238E27FC236}">
                <a16:creationId xmlns:a16="http://schemas.microsoft.com/office/drawing/2014/main" id="{3197A617-93F2-BA66-8000-2BA8E35F6C70}"/>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18</a:t>
            </a:fld>
            <a:endParaRPr kumimoji="1" lang="ja-JP" altLang="en-US"/>
          </a:p>
        </p:txBody>
      </p:sp>
      <p:sp>
        <p:nvSpPr>
          <p:cNvPr id="7" name="Rectangle 2">
            <a:extLst>
              <a:ext uri="{FF2B5EF4-FFF2-40B4-BE49-F238E27FC236}">
                <a16:creationId xmlns:a16="http://schemas.microsoft.com/office/drawing/2014/main" id="{F57680F6-8DEA-0977-990A-3A47AC7AB8CF}"/>
              </a:ext>
            </a:extLst>
          </p:cNvPr>
          <p:cNvSpPr>
            <a:spLocks noChangeArrowheads="1"/>
          </p:cNvSpPr>
          <p:nvPr/>
        </p:nvSpPr>
        <p:spPr bwMode="auto">
          <a:xfrm>
            <a:off x="838200" y="284921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dirty="0">
                <a:ln>
                  <a:noFill/>
                </a:ln>
                <a:solidFill>
                  <a:schemeClr val="tx1"/>
                </a:solidFill>
                <a:effectLst/>
                <a:latin typeface="Arial" panose="020B0604020202020204" pitchFamily="34" charset="0"/>
                <a:hlinkClick r:id="rId3"/>
              </a:rPr>
              <a:t>他社との間でのTeams利用</a:t>
            </a: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
        <p:nvSpPr>
          <p:cNvPr id="12" name="Rectangle 5">
            <a:extLst>
              <a:ext uri="{FF2B5EF4-FFF2-40B4-BE49-F238E27FC236}">
                <a16:creationId xmlns:a16="http://schemas.microsoft.com/office/drawing/2014/main" id="{FC901915-6963-9185-F809-158D4427DC7A}"/>
              </a:ext>
            </a:extLst>
          </p:cNvPr>
          <p:cNvSpPr>
            <a:spLocks noChangeArrowheads="1"/>
          </p:cNvSpPr>
          <p:nvPr/>
        </p:nvSpPr>
        <p:spPr bwMode="auto">
          <a:xfrm>
            <a:off x="763603" y="31672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dirty="0">
                <a:ln>
                  <a:noFill/>
                </a:ln>
                <a:solidFill>
                  <a:schemeClr val="tx1"/>
                </a:solidFill>
                <a:effectLst/>
                <a:latin typeface="Arial" panose="020B0604020202020204" pitchFamily="34" charset="0"/>
                <a:hlinkClick r:id="rId4"/>
              </a:rPr>
              <a:t>G社やP社のユーザーとのBoxでのファイル共有</a:t>
            </a: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7741840"/>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7D7E56-DD5F-36EC-4287-D276779E12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F82D34-C7F7-3318-63A4-221107BC9C34}"/>
              </a:ext>
            </a:extLst>
          </p:cNvPr>
          <p:cNvSpPr/>
          <p:nvPr/>
        </p:nvSpPr>
        <p:spPr>
          <a:xfrm>
            <a:off x="0" y="331421"/>
            <a:ext cx="12192000" cy="11657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4400" dirty="0">
                <a:ea typeface="ＭＳ Ｐゴシック"/>
              </a:rPr>
              <a:t>列車が乱れた際の運用に関わる業務フロー</a:t>
            </a:r>
            <a:endParaRPr lang="en-US" sz="3200" dirty="0">
              <a:ea typeface="ＭＳ Ｐゴシック"/>
            </a:endParaRPr>
          </a:p>
        </p:txBody>
      </p:sp>
      <p:sp>
        <p:nvSpPr>
          <p:cNvPr id="5" name="Rectangle 4">
            <a:extLst>
              <a:ext uri="{FF2B5EF4-FFF2-40B4-BE49-F238E27FC236}">
                <a16:creationId xmlns:a16="http://schemas.microsoft.com/office/drawing/2014/main" id="{D52DD108-403E-7EB4-0D13-1F3B26AEDDCD}"/>
              </a:ext>
            </a:extLst>
          </p:cNvPr>
          <p:cNvSpPr/>
          <p:nvPr/>
        </p:nvSpPr>
        <p:spPr>
          <a:xfrm>
            <a:off x="0" y="1234231"/>
            <a:ext cx="12192000" cy="2629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スライド番号プレースホルダー 10">
            <a:extLst>
              <a:ext uri="{FF2B5EF4-FFF2-40B4-BE49-F238E27FC236}">
                <a16:creationId xmlns:a16="http://schemas.microsoft.com/office/drawing/2014/main" id="{AF66C647-0C44-08A7-D90C-E117D7AC5EC0}"/>
              </a:ext>
            </a:extLst>
          </p:cNvPr>
          <p:cNvSpPr>
            <a:spLocks noGrp="1"/>
          </p:cNvSpPr>
          <p:nvPr>
            <p:ph type="sldNum" sz="quarter" idx="12"/>
          </p:nvPr>
        </p:nvSpPr>
        <p:spPr>
          <a:xfrm>
            <a:off x="9210040" y="6406891"/>
            <a:ext cx="2743200" cy="365125"/>
          </a:xfrm>
        </p:spPr>
        <p:txBody>
          <a:bodyPr/>
          <a:lstStyle/>
          <a:p>
            <a:fld id="{A99D720A-4AD5-4DCF-885F-DE5297996123}" type="slidenum">
              <a:rPr kumimoji="1" lang="ja-JP" altLang="en-US" smtClean="0"/>
              <a:t>19</a:t>
            </a:fld>
            <a:endParaRPr kumimoji="1" lang="ja-JP" altLang="en-US"/>
          </a:p>
        </p:txBody>
      </p:sp>
      <p:sp>
        <p:nvSpPr>
          <p:cNvPr id="7" name="矢印: 右 6">
            <a:extLst>
              <a:ext uri="{FF2B5EF4-FFF2-40B4-BE49-F238E27FC236}">
                <a16:creationId xmlns:a16="http://schemas.microsoft.com/office/drawing/2014/main" id="{9A7A71FC-5906-FA1C-14BC-CDCF72CBB2F1}"/>
              </a:ext>
            </a:extLst>
          </p:cNvPr>
          <p:cNvSpPr/>
          <p:nvPr/>
        </p:nvSpPr>
        <p:spPr>
          <a:xfrm>
            <a:off x="851947" y="1387571"/>
            <a:ext cx="10349948" cy="868031"/>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C1352AF1-668B-07F8-3B47-F949E27C2631}"/>
              </a:ext>
            </a:extLst>
          </p:cNvPr>
          <p:cNvSpPr/>
          <p:nvPr/>
        </p:nvSpPr>
        <p:spPr>
          <a:xfrm>
            <a:off x="119749" y="1585782"/>
            <a:ext cx="2531165" cy="45592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列車乱れ発生</a:t>
            </a:r>
          </a:p>
        </p:txBody>
      </p:sp>
      <p:sp>
        <p:nvSpPr>
          <p:cNvPr id="13" name="四角形: 角を丸くする 12">
            <a:extLst>
              <a:ext uri="{FF2B5EF4-FFF2-40B4-BE49-F238E27FC236}">
                <a16:creationId xmlns:a16="http://schemas.microsoft.com/office/drawing/2014/main" id="{A389EB5F-7C4E-62C8-1985-8CDC152AAEA1}"/>
              </a:ext>
            </a:extLst>
          </p:cNvPr>
          <p:cNvSpPr/>
          <p:nvPr/>
        </p:nvSpPr>
        <p:spPr>
          <a:xfrm>
            <a:off x="-3377647" y="1497176"/>
            <a:ext cx="2531165" cy="86803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t>運転整理</a:t>
            </a:r>
            <a:endParaRPr kumimoji="1" lang="ja-JP" altLang="en-US" sz="2400" dirty="0"/>
          </a:p>
        </p:txBody>
      </p:sp>
      <p:sp>
        <p:nvSpPr>
          <p:cNvPr id="14" name="四角形: 角を丸くする 13">
            <a:extLst>
              <a:ext uri="{FF2B5EF4-FFF2-40B4-BE49-F238E27FC236}">
                <a16:creationId xmlns:a16="http://schemas.microsoft.com/office/drawing/2014/main" id="{4EE83A5F-3F05-B08E-3F6D-5433D62BA2A6}"/>
              </a:ext>
            </a:extLst>
          </p:cNvPr>
          <p:cNvSpPr/>
          <p:nvPr/>
        </p:nvSpPr>
        <p:spPr>
          <a:xfrm>
            <a:off x="1056848" y="2869382"/>
            <a:ext cx="3038602" cy="1420529"/>
          </a:xfrm>
          <a:prstGeom prst="roundRect">
            <a:avLst/>
          </a:prstGeom>
          <a:no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・各編成の在線位置把握</a:t>
            </a:r>
            <a:endParaRPr kumimoji="1" lang="en-US" altLang="ja-JP" sz="2000" dirty="0">
              <a:solidFill>
                <a:schemeClr val="tx1"/>
              </a:solidFill>
            </a:endParaRPr>
          </a:p>
          <a:p>
            <a:pPr algn="ctr"/>
            <a:r>
              <a:rPr kumimoji="1" lang="ja-JP" altLang="en-US" sz="2000" dirty="0">
                <a:solidFill>
                  <a:schemeClr val="tx1"/>
                </a:solidFill>
              </a:rPr>
              <a:t>・運転整理を追い編成の留置場所を把握</a:t>
            </a:r>
            <a:endParaRPr kumimoji="1" lang="en-US" altLang="ja-JP" sz="2000" dirty="0">
              <a:solidFill>
                <a:schemeClr val="tx1"/>
              </a:solidFill>
            </a:endParaRPr>
          </a:p>
          <a:p>
            <a:pPr algn="ctr"/>
            <a:r>
              <a:rPr kumimoji="1" lang="ja-JP" altLang="en-US" sz="2000" dirty="0">
                <a:solidFill>
                  <a:schemeClr val="tx1"/>
                </a:solidFill>
              </a:rPr>
              <a:t>→検修・構内当直相互にチェック</a:t>
            </a:r>
          </a:p>
        </p:txBody>
      </p:sp>
      <p:sp>
        <p:nvSpPr>
          <p:cNvPr id="16" name="矢印: 右 15">
            <a:extLst>
              <a:ext uri="{FF2B5EF4-FFF2-40B4-BE49-F238E27FC236}">
                <a16:creationId xmlns:a16="http://schemas.microsoft.com/office/drawing/2014/main" id="{85F56EAB-8A60-7FD2-C668-EF524FF58CA5}"/>
              </a:ext>
            </a:extLst>
          </p:cNvPr>
          <p:cNvSpPr/>
          <p:nvPr/>
        </p:nvSpPr>
        <p:spPr>
          <a:xfrm>
            <a:off x="-2594939" y="497673"/>
            <a:ext cx="1616764" cy="868031"/>
          </a:xfrm>
          <a:prstGeom prst="right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指令から</a:t>
            </a:r>
            <a:r>
              <a:rPr kumimoji="1" lang="en-US" altLang="ja-JP" dirty="0"/>
              <a:t>FAX</a:t>
            </a:r>
            <a:endParaRPr kumimoji="1" lang="ja-JP" altLang="en-US" dirty="0"/>
          </a:p>
        </p:txBody>
      </p:sp>
      <p:sp>
        <p:nvSpPr>
          <p:cNvPr id="17" name="四角形: 角を丸くする 16">
            <a:extLst>
              <a:ext uri="{FF2B5EF4-FFF2-40B4-BE49-F238E27FC236}">
                <a16:creationId xmlns:a16="http://schemas.microsoft.com/office/drawing/2014/main" id="{D742B5CE-0B73-E853-D647-C480E1BAFCBA}"/>
              </a:ext>
            </a:extLst>
          </p:cNvPr>
          <p:cNvSpPr/>
          <p:nvPr/>
        </p:nvSpPr>
        <p:spPr>
          <a:xfrm>
            <a:off x="-3670852" y="2731598"/>
            <a:ext cx="2531165" cy="868032"/>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運用変更</a:t>
            </a:r>
          </a:p>
        </p:txBody>
      </p:sp>
      <p:sp>
        <p:nvSpPr>
          <p:cNvPr id="19" name="四角形: 角を丸くする 18">
            <a:extLst>
              <a:ext uri="{FF2B5EF4-FFF2-40B4-BE49-F238E27FC236}">
                <a16:creationId xmlns:a16="http://schemas.microsoft.com/office/drawing/2014/main" id="{B001A79C-AC6A-3811-112C-DDB58FD8AAB3}"/>
              </a:ext>
            </a:extLst>
          </p:cNvPr>
          <p:cNvSpPr/>
          <p:nvPr/>
        </p:nvSpPr>
        <p:spPr>
          <a:xfrm>
            <a:off x="1137324" y="2152977"/>
            <a:ext cx="2862580" cy="562875"/>
          </a:xfrm>
          <a:prstGeom prst="roundRect">
            <a:avLst/>
          </a:prstGeom>
          <a:noFill/>
          <a:ln w="762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運転整理実施</a:t>
            </a:r>
            <a:endParaRPr lang="en-US" altLang="ja-JP" sz="2000" dirty="0">
              <a:solidFill>
                <a:schemeClr val="tx1"/>
              </a:solidFill>
            </a:endParaRPr>
          </a:p>
        </p:txBody>
      </p:sp>
      <p:sp>
        <p:nvSpPr>
          <p:cNvPr id="20" name="四角形: 角を丸くする 19">
            <a:extLst>
              <a:ext uri="{FF2B5EF4-FFF2-40B4-BE49-F238E27FC236}">
                <a16:creationId xmlns:a16="http://schemas.microsoft.com/office/drawing/2014/main" id="{ECCAD98E-CB60-CD95-7570-7684640C1382}"/>
              </a:ext>
            </a:extLst>
          </p:cNvPr>
          <p:cNvSpPr/>
          <p:nvPr/>
        </p:nvSpPr>
        <p:spPr>
          <a:xfrm>
            <a:off x="150076" y="2175645"/>
            <a:ext cx="715617" cy="444313"/>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指令</a:t>
            </a:r>
            <a:endParaRPr kumimoji="1" lang="ja-JP" altLang="en-US" dirty="0">
              <a:solidFill>
                <a:schemeClr val="tx1"/>
              </a:solidFill>
            </a:endParaRPr>
          </a:p>
        </p:txBody>
      </p:sp>
      <p:sp>
        <p:nvSpPr>
          <p:cNvPr id="22" name="四角形: 角を丸くする 21">
            <a:extLst>
              <a:ext uri="{FF2B5EF4-FFF2-40B4-BE49-F238E27FC236}">
                <a16:creationId xmlns:a16="http://schemas.microsoft.com/office/drawing/2014/main" id="{4B784559-FD62-207C-A939-0A3BB9FE4FCC}"/>
              </a:ext>
            </a:extLst>
          </p:cNvPr>
          <p:cNvSpPr/>
          <p:nvPr/>
        </p:nvSpPr>
        <p:spPr>
          <a:xfrm>
            <a:off x="149290" y="2979510"/>
            <a:ext cx="715617" cy="444313"/>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検修当直</a:t>
            </a:r>
          </a:p>
        </p:txBody>
      </p:sp>
      <p:sp>
        <p:nvSpPr>
          <p:cNvPr id="23" name="四角形: 角を丸くする 22">
            <a:extLst>
              <a:ext uri="{FF2B5EF4-FFF2-40B4-BE49-F238E27FC236}">
                <a16:creationId xmlns:a16="http://schemas.microsoft.com/office/drawing/2014/main" id="{542FA4CF-21BE-02E5-ECA3-0E6D4FA38FD5}"/>
              </a:ext>
            </a:extLst>
          </p:cNvPr>
          <p:cNvSpPr/>
          <p:nvPr/>
        </p:nvSpPr>
        <p:spPr>
          <a:xfrm>
            <a:off x="136329" y="3867100"/>
            <a:ext cx="715617" cy="444313"/>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構内当直</a:t>
            </a:r>
          </a:p>
        </p:txBody>
      </p:sp>
      <p:sp>
        <p:nvSpPr>
          <p:cNvPr id="24" name="四角形: 角を丸くする 23">
            <a:extLst>
              <a:ext uri="{FF2B5EF4-FFF2-40B4-BE49-F238E27FC236}">
                <a16:creationId xmlns:a16="http://schemas.microsoft.com/office/drawing/2014/main" id="{D93C717C-352C-0D9F-95DF-6A5DFCF9D99F}"/>
              </a:ext>
            </a:extLst>
          </p:cNvPr>
          <p:cNvSpPr/>
          <p:nvPr/>
        </p:nvSpPr>
        <p:spPr>
          <a:xfrm>
            <a:off x="150076" y="4981732"/>
            <a:ext cx="715617" cy="444313"/>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JETS</a:t>
            </a:r>
            <a:endParaRPr kumimoji="1" lang="ja-JP" altLang="en-US" dirty="0">
              <a:solidFill>
                <a:schemeClr val="tx1"/>
              </a:solidFill>
            </a:endParaRPr>
          </a:p>
        </p:txBody>
      </p:sp>
      <p:sp>
        <p:nvSpPr>
          <p:cNvPr id="25" name="四角形: 角を丸くする 24">
            <a:extLst>
              <a:ext uri="{FF2B5EF4-FFF2-40B4-BE49-F238E27FC236}">
                <a16:creationId xmlns:a16="http://schemas.microsoft.com/office/drawing/2014/main" id="{5E3E2730-E23D-0CC3-1ACC-5C1D555C360C}"/>
              </a:ext>
            </a:extLst>
          </p:cNvPr>
          <p:cNvSpPr/>
          <p:nvPr/>
        </p:nvSpPr>
        <p:spPr>
          <a:xfrm>
            <a:off x="4209700" y="2881204"/>
            <a:ext cx="3634800" cy="586007"/>
          </a:xfrm>
          <a:prstGeom prst="roundRect">
            <a:avLst/>
          </a:prstGeom>
          <a:no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車両運用変更</a:t>
            </a:r>
            <a:endParaRPr kumimoji="1" lang="en-US" altLang="ja-JP" sz="2000" dirty="0">
              <a:solidFill>
                <a:schemeClr val="tx1"/>
              </a:solidFill>
            </a:endParaRPr>
          </a:p>
          <a:p>
            <a:pPr algn="ctr"/>
            <a:r>
              <a:rPr lang="ja-JP" altLang="en-US" sz="2000" dirty="0">
                <a:solidFill>
                  <a:schemeClr val="tx1"/>
                </a:solidFill>
              </a:rPr>
              <a:t>→検修当直自身のチェック</a:t>
            </a:r>
            <a:endParaRPr kumimoji="1" lang="en-US" altLang="ja-JP" sz="2000" dirty="0">
              <a:solidFill>
                <a:schemeClr val="tx1"/>
              </a:solidFill>
            </a:endParaRPr>
          </a:p>
        </p:txBody>
      </p:sp>
      <p:sp>
        <p:nvSpPr>
          <p:cNvPr id="26" name="四角形: 角を丸くする 25">
            <a:extLst>
              <a:ext uri="{FF2B5EF4-FFF2-40B4-BE49-F238E27FC236}">
                <a16:creationId xmlns:a16="http://schemas.microsoft.com/office/drawing/2014/main" id="{CD00812F-A829-1C71-04EE-584796660BCF}"/>
              </a:ext>
            </a:extLst>
          </p:cNvPr>
          <p:cNvSpPr/>
          <p:nvPr/>
        </p:nvSpPr>
        <p:spPr>
          <a:xfrm>
            <a:off x="7495347" y="5105326"/>
            <a:ext cx="1006837" cy="868031"/>
          </a:xfrm>
          <a:prstGeom prst="roundRect">
            <a:avLst/>
          </a:prstGeom>
          <a:noFill/>
          <a:ln w="76200">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構内</a:t>
            </a:r>
            <a:endParaRPr lang="en-US" altLang="ja-JP" sz="2000" dirty="0">
              <a:solidFill>
                <a:schemeClr val="tx1"/>
              </a:solidFill>
            </a:endParaRPr>
          </a:p>
          <a:p>
            <a:pPr algn="ctr"/>
            <a:r>
              <a:rPr lang="ja-JP" altLang="en-US" sz="2000" dirty="0">
                <a:solidFill>
                  <a:schemeClr val="tx1"/>
                </a:solidFill>
              </a:rPr>
              <a:t>計画</a:t>
            </a:r>
            <a:endParaRPr lang="en-US" altLang="ja-JP" sz="2000" dirty="0">
              <a:solidFill>
                <a:schemeClr val="tx1"/>
              </a:solidFill>
            </a:endParaRPr>
          </a:p>
          <a:p>
            <a:pPr algn="ctr"/>
            <a:r>
              <a:rPr lang="ja-JP" altLang="en-US" sz="2000" dirty="0">
                <a:solidFill>
                  <a:schemeClr val="tx1"/>
                </a:solidFill>
              </a:rPr>
              <a:t>作成</a:t>
            </a:r>
            <a:endParaRPr kumimoji="1" lang="en-US" altLang="ja-JP" sz="2000" dirty="0">
              <a:solidFill>
                <a:schemeClr val="tx1"/>
              </a:solidFill>
            </a:endParaRPr>
          </a:p>
        </p:txBody>
      </p:sp>
      <p:sp>
        <p:nvSpPr>
          <p:cNvPr id="27" name="四角形: 角を丸くする 26">
            <a:extLst>
              <a:ext uri="{FF2B5EF4-FFF2-40B4-BE49-F238E27FC236}">
                <a16:creationId xmlns:a16="http://schemas.microsoft.com/office/drawing/2014/main" id="{FEBE7961-8293-05CB-1A98-6E67700CD98F}"/>
              </a:ext>
            </a:extLst>
          </p:cNvPr>
          <p:cNvSpPr/>
          <p:nvPr/>
        </p:nvSpPr>
        <p:spPr>
          <a:xfrm>
            <a:off x="8949248" y="4224995"/>
            <a:ext cx="2335474" cy="586008"/>
          </a:xfrm>
          <a:prstGeom prst="roundRect">
            <a:avLst/>
          </a:prstGeom>
          <a:noFill/>
          <a:ln w="762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chemeClr val="tx1"/>
                </a:solidFill>
              </a:rPr>
              <a:t>出区表作成</a:t>
            </a:r>
            <a:endParaRPr kumimoji="1" lang="en-US" altLang="ja-JP" sz="2000" dirty="0">
              <a:solidFill>
                <a:schemeClr val="tx1"/>
              </a:solidFill>
            </a:endParaRPr>
          </a:p>
          <a:p>
            <a:pPr algn="ctr"/>
            <a:r>
              <a:rPr kumimoji="1" lang="ja-JP" altLang="en-US" sz="2000" dirty="0">
                <a:solidFill>
                  <a:schemeClr val="tx1"/>
                </a:solidFill>
              </a:rPr>
              <a:t>→読み合わせ・後追いチェック</a:t>
            </a:r>
            <a:endParaRPr kumimoji="1" lang="en-US" altLang="ja-JP" sz="2000" dirty="0">
              <a:solidFill>
                <a:schemeClr val="tx1"/>
              </a:solidFill>
            </a:endParaRPr>
          </a:p>
        </p:txBody>
      </p:sp>
      <p:sp>
        <p:nvSpPr>
          <p:cNvPr id="28" name="四角形: 角を丸くする 27">
            <a:extLst>
              <a:ext uri="{FF2B5EF4-FFF2-40B4-BE49-F238E27FC236}">
                <a16:creationId xmlns:a16="http://schemas.microsoft.com/office/drawing/2014/main" id="{A0CFF0C4-0084-308D-3787-BCC03C65A3B4}"/>
              </a:ext>
            </a:extLst>
          </p:cNvPr>
          <p:cNvSpPr/>
          <p:nvPr/>
        </p:nvSpPr>
        <p:spPr>
          <a:xfrm>
            <a:off x="8949248" y="3170418"/>
            <a:ext cx="2393388" cy="586008"/>
          </a:xfrm>
          <a:prstGeom prst="roundRect">
            <a:avLst/>
          </a:prstGeom>
          <a:no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仕業検査発注書</a:t>
            </a:r>
            <a:endParaRPr lang="en-US" altLang="ja-JP" sz="2000" dirty="0">
              <a:solidFill>
                <a:schemeClr val="tx1"/>
              </a:solidFill>
            </a:endParaRPr>
          </a:p>
          <a:p>
            <a:pPr algn="ctr"/>
            <a:r>
              <a:rPr lang="ja-JP" altLang="en-US" sz="2000" dirty="0">
                <a:solidFill>
                  <a:schemeClr val="tx1"/>
                </a:solidFill>
              </a:rPr>
              <a:t>作成→アプリで日数チェック</a:t>
            </a:r>
            <a:endParaRPr kumimoji="1" lang="en-US" altLang="ja-JP" sz="2000" dirty="0">
              <a:solidFill>
                <a:schemeClr val="tx1"/>
              </a:solidFill>
            </a:endParaRPr>
          </a:p>
        </p:txBody>
      </p:sp>
      <p:sp>
        <p:nvSpPr>
          <p:cNvPr id="29" name="四角形: 角を丸くする 28">
            <a:extLst>
              <a:ext uri="{FF2B5EF4-FFF2-40B4-BE49-F238E27FC236}">
                <a16:creationId xmlns:a16="http://schemas.microsoft.com/office/drawing/2014/main" id="{81F20D27-50A4-70B1-5661-7AD0F5323545}"/>
              </a:ext>
            </a:extLst>
          </p:cNvPr>
          <p:cNvSpPr/>
          <p:nvPr/>
        </p:nvSpPr>
        <p:spPr>
          <a:xfrm>
            <a:off x="1202595" y="2830023"/>
            <a:ext cx="2896639" cy="1493374"/>
          </a:xfrm>
          <a:prstGeom prst="roundRect">
            <a:avLst/>
          </a:prstGeom>
          <a:noFill/>
          <a:ln w="762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solidFill>
                <a:schemeClr val="tx1"/>
              </a:solidFill>
            </a:endParaRPr>
          </a:p>
        </p:txBody>
      </p:sp>
      <p:sp>
        <p:nvSpPr>
          <p:cNvPr id="30" name="矢印: 下 29">
            <a:extLst>
              <a:ext uri="{FF2B5EF4-FFF2-40B4-BE49-F238E27FC236}">
                <a16:creationId xmlns:a16="http://schemas.microsoft.com/office/drawing/2014/main" id="{D9BB5ECB-7200-3928-764A-0539CF934C5F}"/>
              </a:ext>
            </a:extLst>
          </p:cNvPr>
          <p:cNvSpPr/>
          <p:nvPr/>
        </p:nvSpPr>
        <p:spPr>
          <a:xfrm>
            <a:off x="3552137" y="2613271"/>
            <a:ext cx="895535" cy="813076"/>
          </a:xfrm>
          <a:prstGeom prst="downArrow">
            <a:avLst>
              <a:gd name="adj1" fmla="val 50000"/>
              <a:gd name="adj2" fmla="val 38591"/>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FAX</a:t>
            </a:r>
            <a:endParaRPr kumimoji="1" lang="ja-JP" altLang="en-US" dirty="0"/>
          </a:p>
        </p:txBody>
      </p:sp>
      <p:sp>
        <p:nvSpPr>
          <p:cNvPr id="31" name="矢印: 下 30">
            <a:extLst>
              <a:ext uri="{FF2B5EF4-FFF2-40B4-BE49-F238E27FC236}">
                <a16:creationId xmlns:a16="http://schemas.microsoft.com/office/drawing/2014/main" id="{FFEBBBC6-1B48-9418-C6BB-68EDA71A8977}"/>
              </a:ext>
            </a:extLst>
          </p:cNvPr>
          <p:cNvSpPr/>
          <p:nvPr/>
        </p:nvSpPr>
        <p:spPr>
          <a:xfrm>
            <a:off x="6046774" y="3502294"/>
            <a:ext cx="1731478" cy="1445402"/>
          </a:xfrm>
          <a:prstGeom prst="downArrow">
            <a:avLst>
              <a:gd name="adj1" fmla="val 50000"/>
              <a:gd name="adj2" fmla="val 38591"/>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紙</a:t>
            </a:r>
            <a:endParaRPr lang="en-US" altLang="ja-JP" dirty="0"/>
          </a:p>
          <a:p>
            <a:pPr algn="ctr"/>
            <a:r>
              <a:rPr lang="ja-JP" altLang="en-US" dirty="0"/>
              <a:t>１階分異動</a:t>
            </a:r>
            <a:endParaRPr lang="en-US" altLang="ja-JP" dirty="0"/>
          </a:p>
        </p:txBody>
      </p:sp>
      <p:sp>
        <p:nvSpPr>
          <p:cNvPr id="32" name="矢印: 上 31">
            <a:extLst>
              <a:ext uri="{FF2B5EF4-FFF2-40B4-BE49-F238E27FC236}">
                <a16:creationId xmlns:a16="http://schemas.microsoft.com/office/drawing/2014/main" id="{3C882A1E-7031-82AB-B32C-49C564EF8888}"/>
              </a:ext>
            </a:extLst>
          </p:cNvPr>
          <p:cNvSpPr/>
          <p:nvPr/>
        </p:nvSpPr>
        <p:spPr>
          <a:xfrm>
            <a:off x="7955104" y="3444168"/>
            <a:ext cx="1770688" cy="1361148"/>
          </a:xfrm>
          <a:prstGeom prst="upArrow">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紙</a:t>
            </a:r>
            <a:endParaRPr kumimoji="1" lang="en-US" altLang="ja-JP" dirty="0"/>
          </a:p>
          <a:p>
            <a:pPr algn="ctr"/>
            <a:r>
              <a:rPr lang="ja-JP" altLang="en-US" dirty="0"/>
              <a:t>１階分異動</a:t>
            </a:r>
            <a:endParaRPr kumimoji="1" lang="ja-JP" altLang="en-US" dirty="0"/>
          </a:p>
        </p:txBody>
      </p:sp>
      <p:sp>
        <p:nvSpPr>
          <p:cNvPr id="33" name="四角形: 角を丸くする 32">
            <a:extLst>
              <a:ext uri="{FF2B5EF4-FFF2-40B4-BE49-F238E27FC236}">
                <a16:creationId xmlns:a16="http://schemas.microsoft.com/office/drawing/2014/main" id="{10401C89-7DA4-F751-EBFC-FE81FD0D8B74}"/>
              </a:ext>
            </a:extLst>
          </p:cNvPr>
          <p:cNvSpPr/>
          <p:nvPr/>
        </p:nvSpPr>
        <p:spPr>
          <a:xfrm>
            <a:off x="7495347" y="4551184"/>
            <a:ext cx="1006837" cy="485406"/>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Excel</a:t>
            </a:r>
            <a:r>
              <a:rPr lang="ja-JP" altLang="en-US" dirty="0">
                <a:solidFill>
                  <a:schemeClr val="tx1"/>
                </a:solidFill>
              </a:rPr>
              <a:t>自動作成</a:t>
            </a:r>
            <a:endParaRPr kumimoji="1" lang="ja-JP" altLang="en-US" dirty="0">
              <a:solidFill>
                <a:schemeClr val="tx1"/>
              </a:solidFill>
            </a:endParaRPr>
          </a:p>
        </p:txBody>
      </p:sp>
      <p:sp>
        <p:nvSpPr>
          <p:cNvPr id="34" name="四角形: 角を丸くする 33">
            <a:extLst>
              <a:ext uri="{FF2B5EF4-FFF2-40B4-BE49-F238E27FC236}">
                <a16:creationId xmlns:a16="http://schemas.microsoft.com/office/drawing/2014/main" id="{8D6EF609-5099-04DB-DBF3-68020F6DBFDD}"/>
              </a:ext>
            </a:extLst>
          </p:cNvPr>
          <p:cNvSpPr/>
          <p:nvPr/>
        </p:nvSpPr>
        <p:spPr>
          <a:xfrm>
            <a:off x="4284903" y="2455641"/>
            <a:ext cx="2643457" cy="403324"/>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紙・自身で考える・手書き</a:t>
            </a:r>
          </a:p>
        </p:txBody>
      </p:sp>
      <p:sp>
        <p:nvSpPr>
          <p:cNvPr id="35" name="四角形: 角を丸くする 34">
            <a:extLst>
              <a:ext uri="{FF2B5EF4-FFF2-40B4-BE49-F238E27FC236}">
                <a16:creationId xmlns:a16="http://schemas.microsoft.com/office/drawing/2014/main" id="{4543642C-919C-C34F-4D63-87ABCA9609A4}"/>
              </a:ext>
            </a:extLst>
          </p:cNvPr>
          <p:cNvSpPr/>
          <p:nvPr/>
        </p:nvSpPr>
        <p:spPr>
          <a:xfrm>
            <a:off x="8635368" y="2660727"/>
            <a:ext cx="1689819" cy="396475"/>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紙で作成</a:t>
            </a:r>
            <a:endParaRPr lang="en-US" altLang="ja-JP" dirty="0">
              <a:solidFill>
                <a:schemeClr val="tx1"/>
              </a:solidFill>
            </a:endParaRPr>
          </a:p>
        </p:txBody>
      </p:sp>
      <p:sp>
        <p:nvSpPr>
          <p:cNvPr id="36" name="四角形: 角を丸くする 35">
            <a:extLst>
              <a:ext uri="{FF2B5EF4-FFF2-40B4-BE49-F238E27FC236}">
                <a16:creationId xmlns:a16="http://schemas.microsoft.com/office/drawing/2014/main" id="{84EAC2FD-4937-B859-95C9-EA560186FA4D}"/>
              </a:ext>
            </a:extLst>
          </p:cNvPr>
          <p:cNvSpPr/>
          <p:nvPr/>
        </p:nvSpPr>
        <p:spPr>
          <a:xfrm>
            <a:off x="10981756" y="3817799"/>
            <a:ext cx="1186045" cy="542845"/>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デジタル</a:t>
            </a:r>
            <a:endParaRPr lang="en-US" altLang="ja-JP" dirty="0">
              <a:solidFill>
                <a:schemeClr val="tx1"/>
              </a:solidFill>
            </a:endParaRPr>
          </a:p>
          <a:p>
            <a:pPr algn="ctr"/>
            <a:r>
              <a:rPr lang="ja-JP" altLang="en-US" dirty="0">
                <a:solidFill>
                  <a:schemeClr val="tx1"/>
                </a:solidFill>
              </a:rPr>
              <a:t>手動作成</a:t>
            </a:r>
            <a:endParaRPr kumimoji="1" lang="ja-JP" altLang="en-US" dirty="0">
              <a:solidFill>
                <a:schemeClr val="tx1"/>
              </a:solidFill>
            </a:endParaRPr>
          </a:p>
        </p:txBody>
      </p:sp>
      <p:sp>
        <p:nvSpPr>
          <p:cNvPr id="39" name="四角形: 角を丸くする 38">
            <a:extLst>
              <a:ext uri="{FF2B5EF4-FFF2-40B4-BE49-F238E27FC236}">
                <a16:creationId xmlns:a16="http://schemas.microsoft.com/office/drawing/2014/main" id="{4C6EEA76-52C0-54E1-2765-4FF676502E4D}"/>
              </a:ext>
            </a:extLst>
          </p:cNvPr>
          <p:cNvSpPr/>
          <p:nvPr/>
        </p:nvSpPr>
        <p:spPr>
          <a:xfrm>
            <a:off x="9046111" y="5086968"/>
            <a:ext cx="2335474" cy="586008"/>
          </a:xfrm>
          <a:prstGeom prst="roundRect">
            <a:avLst/>
          </a:prstGeom>
          <a:noFill/>
          <a:ln w="76200">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rPr>
              <a:t>清掃発注書作成</a:t>
            </a:r>
            <a:endParaRPr lang="en-US" altLang="ja-JP" sz="2000" dirty="0">
              <a:solidFill>
                <a:schemeClr val="tx1"/>
              </a:solidFill>
            </a:endParaRPr>
          </a:p>
          <a:p>
            <a:pPr algn="ctr"/>
            <a:r>
              <a:rPr kumimoji="1" lang="ja-JP" altLang="en-US" sz="2000" dirty="0">
                <a:solidFill>
                  <a:schemeClr val="tx1"/>
                </a:solidFill>
              </a:rPr>
              <a:t>→運用表と照合しチェック</a:t>
            </a:r>
            <a:endParaRPr kumimoji="1" lang="en-US" altLang="ja-JP" sz="2000" dirty="0">
              <a:solidFill>
                <a:schemeClr val="tx1"/>
              </a:solidFill>
            </a:endParaRPr>
          </a:p>
        </p:txBody>
      </p:sp>
      <p:sp>
        <p:nvSpPr>
          <p:cNvPr id="40" name="四角形: 角を丸くする 39">
            <a:extLst>
              <a:ext uri="{FF2B5EF4-FFF2-40B4-BE49-F238E27FC236}">
                <a16:creationId xmlns:a16="http://schemas.microsoft.com/office/drawing/2014/main" id="{809F65B5-EF42-18AA-0319-45DD13BC2934}"/>
              </a:ext>
            </a:extLst>
          </p:cNvPr>
          <p:cNvSpPr/>
          <p:nvPr/>
        </p:nvSpPr>
        <p:spPr>
          <a:xfrm>
            <a:off x="10619569" y="5491937"/>
            <a:ext cx="1572431" cy="542845"/>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変更を手入力→自動作成</a:t>
            </a:r>
          </a:p>
        </p:txBody>
      </p:sp>
      <p:sp>
        <p:nvSpPr>
          <p:cNvPr id="41" name="四角形: 角を丸くする 40">
            <a:extLst>
              <a:ext uri="{FF2B5EF4-FFF2-40B4-BE49-F238E27FC236}">
                <a16:creationId xmlns:a16="http://schemas.microsoft.com/office/drawing/2014/main" id="{79D0BB23-3AF3-581A-63DC-E3A905BBD6D2}"/>
              </a:ext>
            </a:extLst>
          </p:cNvPr>
          <p:cNvSpPr/>
          <p:nvPr/>
        </p:nvSpPr>
        <p:spPr>
          <a:xfrm>
            <a:off x="1086867" y="4351061"/>
            <a:ext cx="2139408" cy="791714"/>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車両管理システム</a:t>
            </a:r>
            <a:endParaRPr lang="en-US" altLang="ja-JP" dirty="0">
              <a:solidFill>
                <a:schemeClr val="tx1"/>
              </a:solidFill>
            </a:endParaRPr>
          </a:p>
          <a:p>
            <a:pPr algn="ctr"/>
            <a:r>
              <a:rPr kumimoji="1" lang="ja-JP" altLang="en-US" dirty="0">
                <a:solidFill>
                  <a:schemeClr val="tx1"/>
                </a:solidFill>
              </a:rPr>
              <a:t>紙のダイヤ・手書き</a:t>
            </a:r>
          </a:p>
        </p:txBody>
      </p:sp>
      <p:sp>
        <p:nvSpPr>
          <p:cNvPr id="42" name="四角形: 角を丸くする 41">
            <a:extLst>
              <a:ext uri="{FF2B5EF4-FFF2-40B4-BE49-F238E27FC236}">
                <a16:creationId xmlns:a16="http://schemas.microsoft.com/office/drawing/2014/main" id="{23EAEE1F-991B-CBF4-1D9F-E15C8447067A}"/>
              </a:ext>
            </a:extLst>
          </p:cNvPr>
          <p:cNvSpPr/>
          <p:nvPr/>
        </p:nvSpPr>
        <p:spPr>
          <a:xfrm>
            <a:off x="13237403" y="2992664"/>
            <a:ext cx="1997015" cy="765410"/>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相互にチェック</a:t>
            </a:r>
          </a:p>
        </p:txBody>
      </p:sp>
      <p:sp>
        <p:nvSpPr>
          <p:cNvPr id="43" name="四角形: 角を丸くする 42">
            <a:extLst>
              <a:ext uri="{FF2B5EF4-FFF2-40B4-BE49-F238E27FC236}">
                <a16:creationId xmlns:a16="http://schemas.microsoft.com/office/drawing/2014/main" id="{DE1DC709-D96A-5804-89DE-03421A38FED3}"/>
              </a:ext>
            </a:extLst>
          </p:cNvPr>
          <p:cNvSpPr/>
          <p:nvPr/>
        </p:nvSpPr>
        <p:spPr>
          <a:xfrm>
            <a:off x="12805875" y="2255602"/>
            <a:ext cx="1997015" cy="682026"/>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検修当直自身のチェックのみ</a:t>
            </a:r>
            <a:endParaRPr kumimoji="1" lang="ja-JP" altLang="en-US" dirty="0">
              <a:solidFill>
                <a:schemeClr val="tx1"/>
              </a:solidFill>
            </a:endParaRPr>
          </a:p>
        </p:txBody>
      </p:sp>
      <p:sp>
        <p:nvSpPr>
          <p:cNvPr id="44" name="四角形: 角を丸くする 43">
            <a:extLst>
              <a:ext uri="{FF2B5EF4-FFF2-40B4-BE49-F238E27FC236}">
                <a16:creationId xmlns:a16="http://schemas.microsoft.com/office/drawing/2014/main" id="{0E9D1230-266D-76FB-DE2F-BF25DEB96F69}"/>
              </a:ext>
            </a:extLst>
          </p:cNvPr>
          <p:cNvSpPr/>
          <p:nvPr/>
        </p:nvSpPr>
        <p:spPr>
          <a:xfrm>
            <a:off x="12662990" y="1655604"/>
            <a:ext cx="1672778" cy="64756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アプリで日数</a:t>
            </a:r>
            <a:r>
              <a:rPr kumimoji="1" lang="ja-JP" altLang="en-US" dirty="0">
                <a:solidFill>
                  <a:schemeClr val="tx1"/>
                </a:solidFill>
              </a:rPr>
              <a:t>チェック</a:t>
            </a:r>
          </a:p>
        </p:txBody>
      </p:sp>
      <p:sp>
        <p:nvSpPr>
          <p:cNvPr id="45" name="四角形: 角を丸くする 44">
            <a:extLst>
              <a:ext uri="{FF2B5EF4-FFF2-40B4-BE49-F238E27FC236}">
                <a16:creationId xmlns:a16="http://schemas.microsoft.com/office/drawing/2014/main" id="{789DE3B9-89F4-703A-0F40-9DDA092D7C62}"/>
              </a:ext>
            </a:extLst>
          </p:cNvPr>
          <p:cNvSpPr/>
          <p:nvPr/>
        </p:nvSpPr>
        <p:spPr>
          <a:xfrm>
            <a:off x="12321676" y="970734"/>
            <a:ext cx="1696997" cy="685111"/>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読み合わせ・後追いチェック</a:t>
            </a:r>
          </a:p>
        </p:txBody>
      </p:sp>
      <p:sp>
        <p:nvSpPr>
          <p:cNvPr id="2" name="吹き出し: 上矢印 1">
            <a:extLst>
              <a:ext uri="{FF2B5EF4-FFF2-40B4-BE49-F238E27FC236}">
                <a16:creationId xmlns:a16="http://schemas.microsoft.com/office/drawing/2014/main" id="{3FC3F5CD-93B0-BFB9-EC47-B28A1BA49A28}"/>
              </a:ext>
            </a:extLst>
          </p:cNvPr>
          <p:cNvSpPr/>
          <p:nvPr/>
        </p:nvSpPr>
        <p:spPr>
          <a:xfrm>
            <a:off x="3964199" y="3763432"/>
            <a:ext cx="2152829" cy="1277560"/>
          </a:xfrm>
          <a:prstGeom prst="upArrowCallou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職場内作成中：</a:t>
            </a:r>
            <a:endParaRPr kumimoji="1" lang="en-US" altLang="ja-JP" dirty="0">
              <a:solidFill>
                <a:schemeClr val="tx1"/>
              </a:solidFill>
            </a:endParaRPr>
          </a:p>
          <a:p>
            <a:pPr algn="ctr"/>
            <a:r>
              <a:rPr kumimoji="1" lang="ja-JP" altLang="en-US" dirty="0">
                <a:solidFill>
                  <a:schemeClr val="tx1"/>
                </a:solidFill>
              </a:rPr>
              <a:t>デジタル化</a:t>
            </a:r>
            <a:endParaRPr kumimoji="1" lang="en-US" altLang="ja-JP" dirty="0">
              <a:solidFill>
                <a:schemeClr val="tx1"/>
              </a:solidFill>
            </a:endParaRPr>
          </a:p>
          <a:p>
            <a:pPr algn="ctr"/>
            <a:r>
              <a:rPr lang="ja-JP" altLang="en-US" dirty="0">
                <a:solidFill>
                  <a:schemeClr val="tx1"/>
                </a:solidFill>
              </a:rPr>
              <a:t>→チェックまで</a:t>
            </a:r>
            <a:endParaRPr kumimoji="1" lang="ja-JP" altLang="en-US" dirty="0">
              <a:solidFill>
                <a:schemeClr val="tx1"/>
              </a:solidFill>
            </a:endParaRPr>
          </a:p>
        </p:txBody>
      </p:sp>
    </p:spTree>
    <p:extLst>
      <p:ext uri="{BB962C8B-B14F-4D97-AF65-F5344CB8AC3E}">
        <p14:creationId xmlns:p14="http://schemas.microsoft.com/office/powerpoint/2010/main" val="3592824061"/>
      </p:ext>
    </p:extLst>
  </p:cSld>
  <p:clrMapOvr>
    <a:masterClrMapping/>
  </p:clrMapOvr>
  <mc:AlternateContent xmlns:mc="http://schemas.openxmlformats.org/markup-compatibility/2006" xmlns:p14="http://schemas.microsoft.com/office/powerpoint/2010/main">
    <mc:Choice Requires="p14">
      <p:transition spd="slow" p14:dur="2000" advTm="3428"/>
    </mc:Choice>
    <mc:Fallback xmlns="">
      <p:transition spd="slow" advTm="3428"/>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8442CEEC00B5F409C5C15B3563864EB" ma:contentTypeVersion="11" ma:contentTypeDescription="新しいドキュメントを作成します。" ma:contentTypeScope="" ma:versionID="44eed964a57619d8af93c9846ba7c95b">
  <xsd:schema xmlns:xsd="http://www.w3.org/2001/XMLSchema" xmlns:xs="http://www.w3.org/2001/XMLSchema" xmlns:p="http://schemas.microsoft.com/office/2006/metadata/properties" xmlns:ns3="28360ca9-fc09-4893-aaae-b8b97e62672d" targetNamespace="http://schemas.microsoft.com/office/2006/metadata/properties" ma:root="true" ma:fieldsID="8db38518f11927084dde6c539a3dc444" ns3:_="">
    <xsd:import namespace="28360ca9-fc09-4893-aaae-b8b97e62672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Location" minOccurs="0"/>
                <xsd:element ref="ns3:MediaServiceGenerationTime" minOccurs="0"/>
                <xsd:element ref="ns3:MediaServiceEventHashCode" minOccurs="0"/>
                <xsd:element ref="ns3:MediaServiceSystemTags"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360ca9-fc09-4893-aaae-b8b97e62672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8360ca9-fc09-4893-aaae-b8b97e62672d" xsi:nil="true"/>
  </documentManagement>
</p:properties>
</file>

<file path=customXml/itemProps1.xml><?xml version="1.0" encoding="utf-8"?>
<ds:datastoreItem xmlns:ds="http://schemas.openxmlformats.org/officeDocument/2006/customXml" ds:itemID="{43FA1037-BCF6-4B92-B924-847631FB74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360ca9-fc09-4893-aaae-b8b97e6267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BE27D4-D188-4069-96D8-8C6D90B09E11}">
  <ds:schemaRefs>
    <ds:schemaRef ds:uri="http://schemas.microsoft.com/sharepoint/v3/contenttype/forms"/>
  </ds:schemaRefs>
</ds:datastoreItem>
</file>

<file path=customXml/itemProps3.xml><?xml version="1.0" encoding="utf-8"?>
<ds:datastoreItem xmlns:ds="http://schemas.openxmlformats.org/officeDocument/2006/customXml" ds:itemID="{D8F98548-CF73-496C-B2E1-5AA00E70C09D}">
  <ds:schemaRefs>
    <ds:schemaRef ds:uri="http://purl.org/dc/dcmitype/"/>
    <ds:schemaRef ds:uri="http://www.w3.org/XML/1998/namespace"/>
    <ds:schemaRef ds:uri="http://purl.org/dc/elements/1.1/"/>
    <ds:schemaRef ds:uri="28360ca9-fc09-4893-aaae-b8b97e62672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3007</TotalTime>
  <Words>1550</Words>
  <Application>Microsoft Office PowerPoint</Application>
  <PresentationFormat>ワイド画面</PresentationFormat>
  <Paragraphs>296</Paragraphs>
  <Slides>19</Slides>
  <Notes>19</Notes>
  <HiddenSlides>3</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19</vt:i4>
      </vt:variant>
    </vt:vector>
  </HeadingPairs>
  <TitlesOfParts>
    <vt:vector size="26" baseType="lpstr">
      <vt:lpstr>ＭＳ Ｐゴシック</vt:lpstr>
      <vt:lpstr>ＭＳ Ｐゴシック</vt:lpstr>
      <vt:lpstr>游ゴシック</vt:lpstr>
      <vt:lpstr>Aptos</vt:lpstr>
      <vt:lpstr>Aptos Display</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７</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企画業務のエンゲージメント向上及び活性化</dc:title>
  <dc:creator>F4・高鹿綾華</dc:creator>
  <cp:lastModifiedBy>高鹿　綾華</cp:lastModifiedBy>
  <cp:revision>7</cp:revision>
  <cp:lastPrinted>2026-03-23T01:48:52Z</cp:lastPrinted>
  <dcterms:created xsi:type="dcterms:W3CDTF">2026-02-24T05:27:43Z</dcterms:created>
  <dcterms:modified xsi:type="dcterms:W3CDTF">2026-07-27T10:32:27Z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0x01010068442CEEC00B5F409C5C15B3563864EB</vt:lpwstr>
  </property>
</Properties>
</file>